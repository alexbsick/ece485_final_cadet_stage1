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7162800" cy="94488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695" autoAdjust="0"/>
    <p:restoredTop sz="94660"/>
  </p:normalViewPr>
  <p:slideViewPr>
    <p:cSldViewPr snapToGrid="0">
      <p:cViewPr>
        <p:scale>
          <a:sx n="71" d="100"/>
          <a:sy n="71" d="100"/>
        </p:scale>
        <p:origin x="840" y="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03563" cy="4730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57650" y="0"/>
            <a:ext cx="3103563" cy="4730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AF665D-93E1-4988-A2F8-AD05D120208A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46125" y="1181100"/>
            <a:ext cx="5670550" cy="31892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5963" y="4546600"/>
            <a:ext cx="5730875" cy="3721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75725"/>
            <a:ext cx="3103563" cy="4730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57650" y="8975725"/>
            <a:ext cx="3103563" cy="4730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A778D6-196F-4B1A-863D-D35A5176F0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173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A778D6-196F-4B1A-863D-D35A5176F07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8520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93299-5041-75C6-017B-30BC5A7703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D5B8DF-234E-2565-8A74-EC4222DD85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057E2-614B-D8D3-DAFD-EB72441E8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D690C6-9279-0175-F287-5CC57F0F3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5997C7-E9F4-F1AF-9589-55C8A58F5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315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2C697-D311-D3F4-746D-9512D58AD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9517B-7E5A-43C5-AFA7-CA8FAD4DD4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651C59-7FDA-699E-57AD-CD4F8B7B5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333E41-82A1-9D05-F8BB-7CBEB4AED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5BC14-12CB-B85A-903B-B6B3E5C79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718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FBDC1-63DB-A261-8B23-4DB5378B6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E65E3A-3EBC-4A5E-B2B6-C98ADB8871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56D6BF-0ABC-0A1E-2556-6181195E5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5CF61C-418D-55F8-1B7C-FE7BEF28A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3E840A-E96E-07C4-96F6-A07EDA8D3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956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1E5CC-0588-6BDA-D14C-7841AE213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89EAD0-6884-D842-3703-5940E1F302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5165D7-E4D0-6E62-7410-8DD685ED13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637052-AB9E-16C3-06EB-11FD36635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0E6E59-D0C1-59C6-AECF-05F568FA3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6E6FBB-64A9-ACBE-39EC-C8D5F230D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511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3D773-A9B5-CAE2-7A49-D74CDCCD9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9D8187-78C8-5A5F-AA62-B2B1896869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C4D96B-C717-D46C-BA87-BE57D3E584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4135A0-3376-3CEC-BE24-0142BE8DBE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C3AC10-421B-C35A-B933-38881A6F5E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37917C-0CC4-4F40-CED8-E47FEAF9F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DFAFCF-F24B-F467-EE20-6295A7E0C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67A846-92AC-6BF7-0A06-104B81E38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701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CAF6E-DCF2-8CBC-0A12-19FBFECE0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1BD701-32A0-96D1-647C-B494D9288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6753AA-0B6F-1296-7C13-668735B26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3892D3-3E5D-4D55-9820-26F146551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843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379F85-5DE8-E547-90AD-EA619EAF0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9E778A-56AF-B474-3FA7-E1C69EC04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6F13C4-15EC-1F25-AA88-0E7F792CE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932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0C723-D383-8BBE-4335-E9AC5A8A5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8FEE8-EA2C-0896-1608-DD49A5F88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A10344-FE72-8D2C-2A7A-98D16F4222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EF8B27-B0FB-3AC9-EE50-116F5890B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0BE820-C4D0-A9B9-3984-64D0AEFD7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1FF1BD-E095-E09D-35E0-8B5632EE7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690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0EAEC-5F14-6769-2CA4-40366A78D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DC298D-F147-E7D7-A1EB-D18A0AE668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660A7D-1C77-2BB1-E9DF-A6BFBADA01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20A765-EAFF-C2C5-315F-08EA81987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E76CCC-11A5-2B7F-114C-9486DDFA0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B36D6A-8D27-FCE0-0A3F-E85DD5B5C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449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82B3E-D736-AF83-EE9F-13F94B5CB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2EFD6A-15AB-A3D9-68C9-10A1DA0FE9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51C672-7AE0-6E8E-C3A7-6298D90DD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8457A-275A-9FF2-74DF-D9ECDF2D9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90FC87-DE10-893D-ED45-023BD9C81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031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E2E4A7-F30E-A229-C8B2-EFAA9BEB1E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D79462-7BAC-5207-FD65-DA6583A522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860B-1B0A-B930-D2DD-993523E71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2FC0B7-78D5-E67F-FC88-5D255F29E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FF8B40-7A68-DFDB-BD83-6B27D6BB2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701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1CEFFF-13F7-262B-B970-735F2F0D4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74BEF5-8A79-A960-F86F-B92A2C4A24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E2C7EF-1281-E6F3-8101-E7427E5E50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AFF834-1BEC-4F95-9622-28B5DCC1FE16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DAC2B-E565-9204-1CEB-303278FA4A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788FD1-1743-4E35-DD86-376C42FB33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391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B55267A-D19E-887C-DE49-0FCC56FF700B}"/>
              </a:ext>
            </a:extLst>
          </p:cNvPr>
          <p:cNvSpPr txBox="1"/>
          <p:nvPr/>
        </p:nvSpPr>
        <p:spPr>
          <a:xfrm>
            <a:off x="3977662" y="233086"/>
            <a:ext cx="5050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Stage 1. RISC-V 5-cycle Multicycle Architecture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224797-49E0-B67E-FC03-3154A41834EF}"/>
              </a:ext>
            </a:extLst>
          </p:cNvPr>
          <p:cNvSpPr txBox="1"/>
          <p:nvPr/>
        </p:nvSpPr>
        <p:spPr>
          <a:xfrm>
            <a:off x="389615" y="591970"/>
            <a:ext cx="15564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Instruction Fetch (IF)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02132D-A974-B4EB-7900-F8BED8A09AB0}"/>
              </a:ext>
            </a:extLst>
          </p:cNvPr>
          <p:cNvSpPr txBox="1"/>
          <p:nvPr/>
        </p:nvSpPr>
        <p:spPr>
          <a:xfrm>
            <a:off x="3072930" y="623773"/>
            <a:ext cx="18140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Instruction Decode (ID) /</a:t>
            </a:r>
          </a:p>
          <a:p>
            <a:pPr algn="ctr"/>
            <a:r>
              <a:rPr lang="en-US" sz="1200" dirty="0"/>
              <a:t>Register Fetch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E2FF47-5A2B-0305-FCBA-6E39C9831663}"/>
              </a:ext>
            </a:extLst>
          </p:cNvPr>
          <p:cNvSpPr txBox="1"/>
          <p:nvPr/>
        </p:nvSpPr>
        <p:spPr>
          <a:xfrm>
            <a:off x="5804838" y="607871"/>
            <a:ext cx="10902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Execute (EX) /</a:t>
            </a:r>
          </a:p>
          <a:p>
            <a:pPr algn="ctr"/>
            <a:r>
              <a:rPr lang="en-US" sz="1200" dirty="0"/>
              <a:t>Address Calc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A752A1-6D5B-3A06-E499-B8A91491317E}"/>
              </a:ext>
            </a:extLst>
          </p:cNvPr>
          <p:cNvSpPr txBox="1"/>
          <p:nvPr/>
        </p:nvSpPr>
        <p:spPr>
          <a:xfrm>
            <a:off x="7813021" y="591969"/>
            <a:ext cx="16937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Memory Access (MEM)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80E26C-B122-EBF8-1BAE-F14C52F6765D}"/>
              </a:ext>
            </a:extLst>
          </p:cNvPr>
          <p:cNvSpPr txBox="1"/>
          <p:nvPr/>
        </p:nvSpPr>
        <p:spPr>
          <a:xfrm>
            <a:off x="10341685" y="591969"/>
            <a:ext cx="12554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Write Back (WB)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CBA6833-C633-E5C9-7E4C-C120C994AEAE}"/>
              </a:ext>
            </a:extLst>
          </p:cNvPr>
          <p:cNvCxnSpPr>
            <a:cxnSpLocks/>
          </p:cNvCxnSpPr>
          <p:nvPr/>
        </p:nvCxnSpPr>
        <p:spPr>
          <a:xfrm flipH="1">
            <a:off x="2495383" y="993913"/>
            <a:ext cx="1327" cy="30532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EC90484-36CB-4907-076A-02E3D3D32D1E}"/>
              </a:ext>
            </a:extLst>
          </p:cNvPr>
          <p:cNvCxnSpPr/>
          <p:nvPr/>
        </p:nvCxnSpPr>
        <p:spPr>
          <a:xfrm>
            <a:off x="5364030" y="993913"/>
            <a:ext cx="0" cy="461175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260DFE6-5315-9AC9-190B-7C588133F608}"/>
              </a:ext>
            </a:extLst>
          </p:cNvPr>
          <p:cNvCxnSpPr/>
          <p:nvPr/>
        </p:nvCxnSpPr>
        <p:spPr>
          <a:xfrm>
            <a:off x="7419073" y="993913"/>
            <a:ext cx="0" cy="461175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5519404-0CCB-B1DC-032D-7F61334BD5A1}"/>
              </a:ext>
            </a:extLst>
          </p:cNvPr>
          <p:cNvCxnSpPr/>
          <p:nvPr/>
        </p:nvCxnSpPr>
        <p:spPr>
          <a:xfrm>
            <a:off x="9926603" y="993913"/>
            <a:ext cx="0" cy="461175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17F1C8A5-1E03-D3EE-A0CD-31E6BF30CE41}"/>
              </a:ext>
            </a:extLst>
          </p:cNvPr>
          <p:cNvSpPr/>
          <p:nvPr/>
        </p:nvSpPr>
        <p:spPr>
          <a:xfrm>
            <a:off x="389615" y="2231217"/>
            <a:ext cx="302982" cy="8649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D1EBFC-D10E-E8FA-702E-C2055631644E}"/>
              </a:ext>
            </a:extLst>
          </p:cNvPr>
          <p:cNvSpPr txBox="1"/>
          <p:nvPr/>
        </p:nvSpPr>
        <p:spPr>
          <a:xfrm>
            <a:off x="367821" y="2540560"/>
            <a:ext cx="3465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PC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2E83A9E-00CB-A2F8-9F98-DB66FE846D2B}"/>
              </a:ext>
            </a:extLst>
          </p:cNvPr>
          <p:cNvGrpSpPr/>
          <p:nvPr/>
        </p:nvGrpSpPr>
        <p:grpSpPr>
          <a:xfrm>
            <a:off x="1216534" y="1593543"/>
            <a:ext cx="292770" cy="637674"/>
            <a:chOff x="1074820" y="1507958"/>
            <a:chExt cx="292770" cy="637674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7FA9A5B-CB84-2EB0-E546-86EC440B72D5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1" y="1507958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E5C77C1-9CF9-1E16-50F7-97165BEA36DD}"/>
                </a:ext>
              </a:extLst>
            </p:cNvPr>
            <p:cNvCxnSpPr>
              <a:cxnSpLocks/>
            </p:cNvCxnSpPr>
            <p:nvPr/>
          </p:nvCxnSpPr>
          <p:spPr>
            <a:xfrm>
              <a:off x="1367590" y="1720516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4B8CDA6-2762-C4F5-462F-1DFB1F8AD3FF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1" y="1933074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02FE24B-5DF0-F485-4D3C-1274E51657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4821" y="1936227"/>
              <a:ext cx="292769" cy="2094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95975B7-C231-726E-F036-03E868A2B0B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4821" y="1507958"/>
              <a:ext cx="292769" cy="21571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8EF4851-5EED-A8DF-0BFA-2D36255F2F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4821" y="1829948"/>
              <a:ext cx="140545" cy="10312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ADE1BB0F-7F44-AAB3-DDC6-D559EF8CF86E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0" y="1716505"/>
              <a:ext cx="140545" cy="10713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89779250-CCA9-E70F-BB44-4BF6A6DFE9DB}"/>
              </a:ext>
            </a:extLst>
          </p:cNvPr>
          <p:cNvSpPr/>
          <p:nvPr/>
        </p:nvSpPr>
        <p:spPr>
          <a:xfrm>
            <a:off x="993600" y="2434882"/>
            <a:ext cx="678789" cy="8649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F71C18F-2509-EE4D-4CCF-671D6132B81A}"/>
              </a:ext>
            </a:extLst>
          </p:cNvPr>
          <p:cNvSpPr txBox="1"/>
          <p:nvPr/>
        </p:nvSpPr>
        <p:spPr>
          <a:xfrm>
            <a:off x="938494" y="2649457"/>
            <a:ext cx="7889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Instruction</a:t>
            </a:r>
          </a:p>
          <a:p>
            <a:pPr algn="ctr"/>
            <a:r>
              <a:rPr lang="en-US" sz="1000" dirty="0"/>
              <a:t>Memory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62F0744-F252-2E57-E70D-46D638EDC959}"/>
              </a:ext>
            </a:extLst>
          </p:cNvPr>
          <p:cNvSpPr/>
          <p:nvPr/>
        </p:nvSpPr>
        <p:spPr>
          <a:xfrm>
            <a:off x="1833297" y="2434882"/>
            <a:ext cx="302982" cy="8649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66E3533-5E8E-745F-D8F5-A23CE9ABD26D}"/>
              </a:ext>
            </a:extLst>
          </p:cNvPr>
          <p:cNvSpPr txBox="1"/>
          <p:nvPr/>
        </p:nvSpPr>
        <p:spPr>
          <a:xfrm>
            <a:off x="1841005" y="2744225"/>
            <a:ext cx="2952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IR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E2B66EC-2BE1-E44E-7373-F40AC05C62C6}"/>
              </a:ext>
            </a:extLst>
          </p:cNvPr>
          <p:cNvSpPr/>
          <p:nvPr/>
        </p:nvSpPr>
        <p:spPr>
          <a:xfrm>
            <a:off x="1845675" y="1476772"/>
            <a:ext cx="302982" cy="8649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61A2BC1-FBC0-F6F1-4CF7-DA1BFBA2B724}"/>
              </a:ext>
            </a:extLst>
          </p:cNvPr>
          <p:cNvSpPr txBox="1"/>
          <p:nvPr/>
        </p:nvSpPr>
        <p:spPr>
          <a:xfrm>
            <a:off x="1778799" y="1796717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NPC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985C22F-9117-9276-318F-953E57303C7F}"/>
              </a:ext>
            </a:extLst>
          </p:cNvPr>
          <p:cNvCxnSpPr/>
          <p:nvPr/>
        </p:nvCxnSpPr>
        <p:spPr>
          <a:xfrm>
            <a:off x="1038726" y="2124938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DEFB51DF-C201-E15E-5AC3-33F19BCD98C8}"/>
              </a:ext>
            </a:extLst>
          </p:cNvPr>
          <p:cNvSpPr txBox="1"/>
          <p:nvPr/>
        </p:nvSpPr>
        <p:spPr>
          <a:xfrm>
            <a:off x="835816" y="1998958"/>
            <a:ext cx="2535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4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50DC1730-2DC8-EE14-BF4C-B0BDADDC0FF1}"/>
              </a:ext>
            </a:extLst>
          </p:cNvPr>
          <p:cNvCxnSpPr/>
          <p:nvPr/>
        </p:nvCxnSpPr>
        <p:spPr>
          <a:xfrm>
            <a:off x="1038726" y="1699822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659943FA-4B6F-768D-06C0-4089702D09F7}"/>
              </a:ext>
            </a:extLst>
          </p:cNvPr>
          <p:cNvCxnSpPr>
            <a:cxnSpLocks/>
            <a:endCxn id="45" idx="1"/>
          </p:cNvCxnSpPr>
          <p:nvPr/>
        </p:nvCxnSpPr>
        <p:spPr>
          <a:xfrm flipV="1">
            <a:off x="1508373" y="1909227"/>
            <a:ext cx="337302" cy="13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C2E7DC4-844A-C5EA-DE17-84B5DF7297B8}"/>
              </a:ext>
            </a:extLst>
          </p:cNvPr>
          <p:cNvCxnSpPr/>
          <p:nvPr/>
        </p:nvCxnSpPr>
        <p:spPr>
          <a:xfrm>
            <a:off x="1663197" y="2866694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C49D7864-D93C-BF99-66FF-D2C4F2C00D63}"/>
              </a:ext>
            </a:extLst>
          </p:cNvPr>
          <p:cNvCxnSpPr>
            <a:cxnSpLocks/>
          </p:cNvCxnSpPr>
          <p:nvPr/>
        </p:nvCxnSpPr>
        <p:spPr>
          <a:xfrm>
            <a:off x="692597" y="2702044"/>
            <a:ext cx="2988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8242732E-8C7A-B59A-A71F-EE6E1C3473D7}"/>
              </a:ext>
            </a:extLst>
          </p:cNvPr>
          <p:cNvCxnSpPr/>
          <p:nvPr/>
        </p:nvCxnSpPr>
        <p:spPr>
          <a:xfrm>
            <a:off x="791700" y="1699822"/>
            <a:ext cx="0" cy="10022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88974812-60ED-4172-D124-4A8113D87693}"/>
              </a:ext>
            </a:extLst>
          </p:cNvPr>
          <p:cNvCxnSpPr/>
          <p:nvPr/>
        </p:nvCxnSpPr>
        <p:spPr>
          <a:xfrm flipH="1">
            <a:off x="790074" y="1699822"/>
            <a:ext cx="24865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8051380C-7AC3-E614-919E-D239B7148F90}"/>
              </a:ext>
            </a:extLst>
          </p:cNvPr>
          <p:cNvCxnSpPr/>
          <p:nvPr/>
        </p:nvCxnSpPr>
        <p:spPr>
          <a:xfrm>
            <a:off x="211807" y="2702044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43D81353-E0D4-11A6-8251-372780A9E3C4}"/>
              </a:ext>
            </a:extLst>
          </p:cNvPr>
          <p:cNvSpPr/>
          <p:nvPr/>
        </p:nvSpPr>
        <p:spPr>
          <a:xfrm>
            <a:off x="1885719" y="4047113"/>
            <a:ext cx="678789" cy="8649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E8D0138-4B77-FFA4-8FF2-FD84E92B36C9}"/>
              </a:ext>
            </a:extLst>
          </p:cNvPr>
          <p:cNvSpPr txBox="1"/>
          <p:nvPr/>
        </p:nvSpPr>
        <p:spPr>
          <a:xfrm>
            <a:off x="1923589" y="4261688"/>
            <a:ext cx="6030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Control</a:t>
            </a:r>
          </a:p>
          <a:p>
            <a:pPr algn="ctr"/>
            <a:r>
              <a:rPr lang="en-US" sz="1000" dirty="0"/>
              <a:t>Unit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1935241F-0C11-48EF-D642-426AC51B513F}"/>
              </a:ext>
            </a:extLst>
          </p:cNvPr>
          <p:cNvSpPr/>
          <p:nvPr/>
        </p:nvSpPr>
        <p:spPr>
          <a:xfrm>
            <a:off x="445883" y="4315116"/>
            <a:ext cx="302982" cy="8649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3F1802F-BAB3-6E97-9130-2BCE1AE0A5DC}"/>
              </a:ext>
            </a:extLst>
          </p:cNvPr>
          <p:cNvSpPr txBox="1"/>
          <p:nvPr/>
        </p:nvSpPr>
        <p:spPr>
          <a:xfrm>
            <a:off x="399489" y="4649279"/>
            <a:ext cx="4251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FSM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00E5928D-8B59-DB64-4689-8B8A1D94A22C}"/>
              </a:ext>
            </a:extLst>
          </p:cNvPr>
          <p:cNvSpPr/>
          <p:nvPr/>
        </p:nvSpPr>
        <p:spPr>
          <a:xfrm>
            <a:off x="2803315" y="4965524"/>
            <a:ext cx="302982" cy="8649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77C1290-2996-9401-3AC2-06CF5A8F9D57}"/>
              </a:ext>
            </a:extLst>
          </p:cNvPr>
          <p:cNvSpPr txBox="1"/>
          <p:nvPr/>
        </p:nvSpPr>
        <p:spPr>
          <a:xfrm>
            <a:off x="2725416" y="5143452"/>
            <a:ext cx="458780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ALU</a:t>
            </a:r>
          </a:p>
          <a:p>
            <a:pPr algn="ctr"/>
            <a:r>
              <a:rPr lang="en-US" sz="900" dirty="0"/>
              <a:t>CNTL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72D0DCE7-42C6-8F85-8B9C-A00EF9724EBB}"/>
              </a:ext>
            </a:extLst>
          </p:cNvPr>
          <p:cNvCxnSpPr/>
          <p:nvPr/>
        </p:nvCxnSpPr>
        <p:spPr>
          <a:xfrm>
            <a:off x="1713592" y="4519030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837693FA-7149-8EC0-7762-41736045A7FE}"/>
              </a:ext>
            </a:extLst>
          </p:cNvPr>
          <p:cNvCxnSpPr>
            <a:cxnSpLocks/>
          </p:cNvCxnSpPr>
          <p:nvPr/>
        </p:nvCxnSpPr>
        <p:spPr>
          <a:xfrm>
            <a:off x="748865" y="4746927"/>
            <a:ext cx="325513" cy="64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C458AD97-7803-3315-AF03-8F40DF1BD335}"/>
              </a:ext>
            </a:extLst>
          </p:cNvPr>
          <p:cNvCxnSpPr/>
          <p:nvPr/>
        </p:nvCxnSpPr>
        <p:spPr>
          <a:xfrm>
            <a:off x="3106297" y="5377092"/>
            <a:ext cx="17780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9F2F3C86-53F2-D75C-D209-C94C59ADC93E}"/>
              </a:ext>
            </a:extLst>
          </p:cNvPr>
          <p:cNvCxnSpPr>
            <a:cxnSpLocks/>
          </p:cNvCxnSpPr>
          <p:nvPr/>
        </p:nvCxnSpPr>
        <p:spPr>
          <a:xfrm>
            <a:off x="2573441" y="5254830"/>
            <a:ext cx="22987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25DE6B25-B7FD-82FD-51BE-1AB615A6B635}"/>
              </a:ext>
            </a:extLst>
          </p:cNvPr>
          <p:cNvCxnSpPr>
            <a:stCxn id="43" idx="3"/>
          </p:cNvCxnSpPr>
          <p:nvPr/>
        </p:nvCxnSpPr>
        <p:spPr>
          <a:xfrm flipV="1">
            <a:off x="2136279" y="2866694"/>
            <a:ext cx="149721" cy="6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857589EA-2600-0EE7-5D7E-FFA354A03D39}"/>
              </a:ext>
            </a:extLst>
          </p:cNvPr>
          <p:cNvCxnSpPr>
            <a:cxnSpLocks/>
          </p:cNvCxnSpPr>
          <p:nvPr/>
        </p:nvCxnSpPr>
        <p:spPr>
          <a:xfrm>
            <a:off x="1713592" y="3685674"/>
            <a:ext cx="0" cy="2067724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95633958-DAF6-D732-2373-3901093A51FA}"/>
              </a:ext>
            </a:extLst>
          </p:cNvPr>
          <p:cNvCxnSpPr/>
          <p:nvPr/>
        </p:nvCxnSpPr>
        <p:spPr>
          <a:xfrm>
            <a:off x="1713592" y="3677653"/>
            <a:ext cx="572408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4B6F7810-982D-2B77-AC93-0E1947AF6544}"/>
              </a:ext>
            </a:extLst>
          </p:cNvPr>
          <p:cNvCxnSpPr>
            <a:cxnSpLocks/>
          </p:cNvCxnSpPr>
          <p:nvPr/>
        </p:nvCxnSpPr>
        <p:spPr>
          <a:xfrm>
            <a:off x="2286000" y="2445713"/>
            <a:ext cx="0" cy="1239961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>
            <a:extLst>
              <a:ext uri="{FF2B5EF4-FFF2-40B4-BE49-F238E27FC236}">
                <a16:creationId xmlns:a16="http://schemas.microsoft.com/office/drawing/2014/main" id="{E5E3C8FC-BB27-8EAD-AA8B-33B131880EBA}"/>
              </a:ext>
            </a:extLst>
          </p:cNvPr>
          <p:cNvSpPr/>
          <p:nvPr/>
        </p:nvSpPr>
        <p:spPr>
          <a:xfrm>
            <a:off x="3395182" y="2230495"/>
            <a:ext cx="865785" cy="12434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333EE89-68AF-712F-BEF3-4270A403DD6C}"/>
              </a:ext>
            </a:extLst>
          </p:cNvPr>
          <p:cNvSpPr txBox="1"/>
          <p:nvPr/>
        </p:nvSpPr>
        <p:spPr>
          <a:xfrm>
            <a:off x="3487888" y="2199492"/>
            <a:ext cx="6992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Registers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1AE12B1-7545-1454-6C3C-AB92CE68BA32}"/>
              </a:ext>
            </a:extLst>
          </p:cNvPr>
          <p:cNvSpPr txBox="1"/>
          <p:nvPr/>
        </p:nvSpPr>
        <p:spPr>
          <a:xfrm>
            <a:off x="3337743" y="2425065"/>
            <a:ext cx="34015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rs1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3D30ED51-6ECC-1E79-E116-A0B4491B4CEE}"/>
              </a:ext>
            </a:extLst>
          </p:cNvPr>
          <p:cNvSpPr txBox="1"/>
          <p:nvPr/>
        </p:nvSpPr>
        <p:spPr>
          <a:xfrm>
            <a:off x="3330036" y="2638129"/>
            <a:ext cx="34015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rs2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0D272481-4C37-B8F1-EC3A-AFDE741A0241}"/>
              </a:ext>
            </a:extLst>
          </p:cNvPr>
          <p:cNvSpPr txBox="1"/>
          <p:nvPr/>
        </p:nvSpPr>
        <p:spPr>
          <a:xfrm>
            <a:off x="3344357" y="2856477"/>
            <a:ext cx="2872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rd</a:t>
            </a:r>
            <a:endParaRPr lang="en-US" sz="900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7561CD7D-9C78-AF40-DA46-A961D099BBAC}"/>
              </a:ext>
            </a:extLst>
          </p:cNvPr>
          <p:cNvSpPr txBox="1"/>
          <p:nvPr/>
        </p:nvSpPr>
        <p:spPr>
          <a:xfrm>
            <a:off x="3333331" y="3078570"/>
            <a:ext cx="55175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data_in</a:t>
            </a:r>
            <a:endParaRPr lang="en-US" sz="900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6B7A2420-3BF4-06F5-C94F-24FA12BE23C4}"/>
              </a:ext>
            </a:extLst>
          </p:cNvPr>
          <p:cNvSpPr txBox="1"/>
          <p:nvPr/>
        </p:nvSpPr>
        <p:spPr>
          <a:xfrm>
            <a:off x="3843596" y="2602555"/>
            <a:ext cx="47481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dout1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B53E35CA-0236-A05F-53D0-1E8A84D64527}"/>
              </a:ext>
            </a:extLst>
          </p:cNvPr>
          <p:cNvSpPr txBox="1"/>
          <p:nvPr/>
        </p:nvSpPr>
        <p:spPr>
          <a:xfrm>
            <a:off x="3836982" y="2865215"/>
            <a:ext cx="47481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dout2</a:t>
            </a:r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54430F1D-2781-5846-8B40-4AA2EF16F7DF}"/>
              </a:ext>
            </a:extLst>
          </p:cNvPr>
          <p:cNvCxnSpPr>
            <a:cxnSpLocks/>
          </p:cNvCxnSpPr>
          <p:nvPr/>
        </p:nvCxnSpPr>
        <p:spPr>
          <a:xfrm flipV="1">
            <a:off x="4258959" y="2971893"/>
            <a:ext cx="1433720" cy="87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2BF0F484-4DF4-2533-8B03-F090046F1463}"/>
              </a:ext>
            </a:extLst>
          </p:cNvPr>
          <p:cNvCxnSpPr>
            <a:cxnSpLocks/>
          </p:cNvCxnSpPr>
          <p:nvPr/>
        </p:nvCxnSpPr>
        <p:spPr>
          <a:xfrm flipV="1">
            <a:off x="2286000" y="2540481"/>
            <a:ext cx="1108177" cy="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F773D457-1D45-45DC-597B-F39E1DA08775}"/>
              </a:ext>
            </a:extLst>
          </p:cNvPr>
          <p:cNvCxnSpPr>
            <a:cxnSpLocks/>
          </p:cNvCxnSpPr>
          <p:nvPr/>
        </p:nvCxnSpPr>
        <p:spPr>
          <a:xfrm>
            <a:off x="2286000" y="2753545"/>
            <a:ext cx="110163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77B65014-ADFF-C974-2427-EBBA0A442924}"/>
              </a:ext>
            </a:extLst>
          </p:cNvPr>
          <p:cNvCxnSpPr>
            <a:cxnSpLocks/>
          </p:cNvCxnSpPr>
          <p:nvPr/>
        </p:nvCxnSpPr>
        <p:spPr>
          <a:xfrm>
            <a:off x="2286000" y="2971893"/>
            <a:ext cx="1102156" cy="25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4A9A0FA7-729C-BA90-755B-B07A92FEFF53}"/>
              </a:ext>
            </a:extLst>
          </p:cNvPr>
          <p:cNvSpPr txBox="1"/>
          <p:nvPr/>
        </p:nvSpPr>
        <p:spPr>
          <a:xfrm>
            <a:off x="3337743" y="3251607"/>
            <a:ext cx="63991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reg_write</a:t>
            </a:r>
            <a:endParaRPr lang="en-US" sz="900" dirty="0"/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A377C039-2182-654F-6A35-40B8C3B82901}"/>
              </a:ext>
            </a:extLst>
          </p:cNvPr>
          <p:cNvCxnSpPr>
            <a:cxnSpLocks/>
          </p:cNvCxnSpPr>
          <p:nvPr/>
        </p:nvCxnSpPr>
        <p:spPr>
          <a:xfrm>
            <a:off x="3072930" y="3193986"/>
            <a:ext cx="314709" cy="10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96194351-1F6F-6ECD-551A-2B077972FE1F}"/>
              </a:ext>
            </a:extLst>
          </p:cNvPr>
          <p:cNvCxnSpPr>
            <a:cxnSpLocks/>
          </p:cNvCxnSpPr>
          <p:nvPr/>
        </p:nvCxnSpPr>
        <p:spPr>
          <a:xfrm>
            <a:off x="3047939" y="3387564"/>
            <a:ext cx="34623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Rectangle 110">
            <a:extLst>
              <a:ext uri="{FF2B5EF4-FFF2-40B4-BE49-F238E27FC236}">
                <a16:creationId xmlns:a16="http://schemas.microsoft.com/office/drawing/2014/main" id="{76640488-7F74-ACFA-C3D7-F537C70A09BF}"/>
              </a:ext>
            </a:extLst>
          </p:cNvPr>
          <p:cNvSpPr/>
          <p:nvPr/>
        </p:nvSpPr>
        <p:spPr>
          <a:xfrm>
            <a:off x="1894652" y="5117831"/>
            <a:ext cx="678789" cy="26610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1EFE176C-F8AC-D0A4-16C8-9E5D45E76EEA}"/>
              </a:ext>
            </a:extLst>
          </p:cNvPr>
          <p:cNvSpPr txBox="1"/>
          <p:nvPr/>
        </p:nvSpPr>
        <p:spPr>
          <a:xfrm>
            <a:off x="1952971" y="5137718"/>
            <a:ext cx="54373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funct3</a:t>
            </a:r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B6E242FA-A035-C849-18B8-46769A45A7CC}"/>
              </a:ext>
            </a:extLst>
          </p:cNvPr>
          <p:cNvCxnSpPr/>
          <p:nvPr/>
        </p:nvCxnSpPr>
        <p:spPr>
          <a:xfrm>
            <a:off x="1716844" y="5256054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F072AB9E-03D5-1BB6-662D-CF697E282081}"/>
              </a:ext>
            </a:extLst>
          </p:cNvPr>
          <p:cNvCxnSpPr>
            <a:cxnSpLocks/>
          </p:cNvCxnSpPr>
          <p:nvPr/>
        </p:nvCxnSpPr>
        <p:spPr>
          <a:xfrm>
            <a:off x="2572114" y="5624289"/>
            <a:ext cx="2312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Rectangle 114">
            <a:extLst>
              <a:ext uri="{FF2B5EF4-FFF2-40B4-BE49-F238E27FC236}">
                <a16:creationId xmlns:a16="http://schemas.microsoft.com/office/drawing/2014/main" id="{BCBBC265-9F36-86B1-82C4-3FDAB7F4F15B}"/>
              </a:ext>
            </a:extLst>
          </p:cNvPr>
          <p:cNvSpPr/>
          <p:nvPr/>
        </p:nvSpPr>
        <p:spPr>
          <a:xfrm>
            <a:off x="1893325" y="5487290"/>
            <a:ext cx="678789" cy="26610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59FF6F2F-B91C-1D7F-98CB-28D8B2F4EF02}"/>
              </a:ext>
            </a:extLst>
          </p:cNvPr>
          <p:cNvSpPr txBox="1"/>
          <p:nvPr/>
        </p:nvSpPr>
        <p:spPr>
          <a:xfrm>
            <a:off x="1951644" y="5507177"/>
            <a:ext cx="54373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funct7</a:t>
            </a:r>
          </a:p>
        </p:txBody>
      </p: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2126D306-46DD-18FB-80A1-6346D00C5885}"/>
              </a:ext>
            </a:extLst>
          </p:cNvPr>
          <p:cNvCxnSpPr/>
          <p:nvPr/>
        </p:nvCxnSpPr>
        <p:spPr>
          <a:xfrm>
            <a:off x="1715517" y="5625513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Rectangle 128">
            <a:extLst>
              <a:ext uri="{FF2B5EF4-FFF2-40B4-BE49-F238E27FC236}">
                <a16:creationId xmlns:a16="http://schemas.microsoft.com/office/drawing/2014/main" id="{A79F83E5-4EE5-7034-134B-A22F1EA7ED48}"/>
              </a:ext>
            </a:extLst>
          </p:cNvPr>
          <p:cNvSpPr/>
          <p:nvPr/>
        </p:nvSpPr>
        <p:spPr>
          <a:xfrm>
            <a:off x="3806753" y="3923507"/>
            <a:ext cx="865785" cy="4606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231A3BDE-0FB4-6B4D-C6C0-53B6E6178991}"/>
              </a:ext>
            </a:extLst>
          </p:cNvPr>
          <p:cNvSpPr txBox="1"/>
          <p:nvPr/>
        </p:nvSpPr>
        <p:spPr>
          <a:xfrm>
            <a:off x="3755993" y="3892504"/>
            <a:ext cx="9861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Sign Extension</a:t>
            </a:r>
          </a:p>
          <a:p>
            <a:pPr algn="ctr"/>
            <a:endParaRPr lang="en-US" sz="1000" dirty="0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18F3F7A3-DBC8-6819-227D-49A14F7C2B32}"/>
              </a:ext>
            </a:extLst>
          </p:cNvPr>
          <p:cNvSpPr txBox="1"/>
          <p:nvPr/>
        </p:nvSpPr>
        <p:spPr>
          <a:xfrm>
            <a:off x="4311792" y="4099798"/>
            <a:ext cx="4074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imm</a:t>
            </a:r>
            <a:endParaRPr lang="en-US" sz="900" dirty="0"/>
          </a:p>
        </p:txBody>
      </p: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8E5AF114-E674-2C84-7A79-4F931C99BC05}"/>
              </a:ext>
            </a:extLst>
          </p:cNvPr>
          <p:cNvCxnSpPr>
            <a:cxnSpLocks/>
          </p:cNvCxnSpPr>
          <p:nvPr/>
        </p:nvCxnSpPr>
        <p:spPr>
          <a:xfrm>
            <a:off x="2639349" y="4253940"/>
            <a:ext cx="116740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Rectangle 144">
            <a:extLst>
              <a:ext uri="{FF2B5EF4-FFF2-40B4-BE49-F238E27FC236}">
                <a16:creationId xmlns:a16="http://schemas.microsoft.com/office/drawing/2014/main" id="{D48BF948-61BF-AC37-8597-388094170D18}"/>
              </a:ext>
            </a:extLst>
          </p:cNvPr>
          <p:cNvSpPr/>
          <p:nvPr/>
        </p:nvSpPr>
        <p:spPr>
          <a:xfrm>
            <a:off x="8073953" y="3976514"/>
            <a:ext cx="865785" cy="105659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69719632-7E59-F7B2-AEF4-E4C30AA0AEF2}"/>
              </a:ext>
            </a:extLst>
          </p:cNvPr>
          <p:cNvSpPr txBox="1"/>
          <p:nvPr/>
        </p:nvSpPr>
        <p:spPr>
          <a:xfrm>
            <a:off x="8252423" y="3945511"/>
            <a:ext cx="5277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Offset</a:t>
            </a:r>
          </a:p>
          <a:p>
            <a:pPr algn="ctr"/>
            <a:endParaRPr lang="en-US" sz="1000" dirty="0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6432B689-7D1C-F807-6B45-D8272427DA3A}"/>
              </a:ext>
            </a:extLst>
          </p:cNvPr>
          <p:cNvSpPr txBox="1"/>
          <p:nvPr/>
        </p:nvSpPr>
        <p:spPr>
          <a:xfrm>
            <a:off x="8023507" y="4194029"/>
            <a:ext cx="4138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NPC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831B5896-D57B-4667-02CD-6AAF11DEE5E2}"/>
              </a:ext>
            </a:extLst>
          </p:cNvPr>
          <p:cNvSpPr txBox="1"/>
          <p:nvPr/>
        </p:nvSpPr>
        <p:spPr>
          <a:xfrm>
            <a:off x="8037782" y="4384148"/>
            <a:ext cx="4074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imm</a:t>
            </a:r>
            <a:endParaRPr lang="en-US" sz="900" dirty="0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BC6DDD09-EA41-1470-2429-DBE27164913F}"/>
              </a:ext>
            </a:extLst>
          </p:cNvPr>
          <p:cNvSpPr txBox="1"/>
          <p:nvPr/>
        </p:nvSpPr>
        <p:spPr>
          <a:xfrm>
            <a:off x="8224994" y="4611234"/>
            <a:ext cx="71365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Branch PC</a:t>
            </a:r>
          </a:p>
        </p:txBody>
      </p: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0B969FF2-6DAD-23DC-28B8-ACF737E02DB2}"/>
              </a:ext>
            </a:extLst>
          </p:cNvPr>
          <p:cNvCxnSpPr>
            <a:cxnSpLocks/>
          </p:cNvCxnSpPr>
          <p:nvPr/>
        </p:nvCxnSpPr>
        <p:spPr>
          <a:xfrm>
            <a:off x="8937730" y="4726650"/>
            <a:ext cx="3743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F030B5C6-68FA-2DA5-919A-5B353DA9C1A8}"/>
              </a:ext>
            </a:extLst>
          </p:cNvPr>
          <p:cNvCxnSpPr/>
          <p:nvPr/>
        </p:nvCxnSpPr>
        <p:spPr>
          <a:xfrm>
            <a:off x="7896145" y="4306947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9779A5A3-D9AC-4884-E09E-088355A5273D}"/>
              </a:ext>
            </a:extLst>
          </p:cNvPr>
          <p:cNvCxnSpPr/>
          <p:nvPr/>
        </p:nvCxnSpPr>
        <p:spPr>
          <a:xfrm>
            <a:off x="7896145" y="4507267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TextBox 154">
            <a:extLst>
              <a:ext uri="{FF2B5EF4-FFF2-40B4-BE49-F238E27FC236}">
                <a16:creationId xmlns:a16="http://schemas.microsoft.com/office/drawing/2014/main" id="{75FA3F6B-D94A-A494-28FD-7D4F921979A2}"/>
              </a:ext>
            </a:extLst>
          </p:cNvPr>
          <p:cNvSpPr txBox="1"/>
          <p:nvPr/>
        </p:nvSpPr>
        <p:spPr>
          <a:xfrm>
            <a:off x="8311407" y="4765177"/>
            <a:ext cx="6206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Jump PC</a:t>
            </a:r>
          </a:p>
        </p:txBody>
      </p: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4E8E377D-848A-C4CD-E531-28E5114DF352}"/>
              </a:ext>
            </a:extLst>
          </p:cNvPr>
          <p:cNvCxnSpPr>
            <a:cxnSpLocks/>
          </p:cNvCxnSpPr>
          <p:nvPr/>
        </p:nvCxnSpPr>
        <p:spPr>
          <a:xfrm>
            <a:off x="8937730" y="4895500"/>
            <a:ext cx="37941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1691EF3B-B49C-E8C7-89F0-04E2CEA7B43B}"/>
              </a:ext>
            </a:extLst>
          </p:cNvPr>
          <p:cNvCxnSpPr>
            <a:cxnSpLocks/>
          </p:cNvCxnSpPr>
          <p:nvPr/>
        </p:nvCxnSpPr>
        <p:spPr>
          <a:xfrm>
            <a:off x="2639349" y="3251607"/>
            <a:ext cx="0" cy="101475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TextBox 159">
            <a:extLst>
              <a:ext uri="{FF2B5EF4-FFF2-40B4-BE49-F238E27FC236}">
                <a16:creationId xmlns:a16="http://schemas.microsoft.com/office/drawing/2014/main" id="{3BF5B236-4D8B-849D-0CDF-2CB1B5EE7284}"/>
              </a:ext>
            </a:extLst>
          </p:cNvPr>
          <p:cNvSpPr txBox="1"/>
          <p:nvPr/>
        </p:nvSpPr>
        <p:spPr>
          <a:xfrm>
            <a:off x="7559719" y="4194029"/>
            <a:ext cx="4138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NPC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0E9784F2-B3AB-C0FA-FDFE-48C83AB9B12E}"/>
              </a:ext>
            </a:extLst>
          </p:cNvPr>
          <p:cNvSpPr txBox="1"/>
          <p:nvPr/>
        </p:nvSpPr>
        <p:spPr>
          <a:xfrm>
            <a:off x="7553125" y="4380402"/>
            <a:ext cx="4074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imm</a:t>
            </a:r>
            <a:endParaRPr lang="en-US" sz="900" dirty="0"/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5752E8FD-FCF1-9D02-67ED-6A11A8F587F0}"/>
              </a:ext>
            </a:extLst>
          </p:cNvPr>
          <p:cNvGrpSpPr/>
          <p:nvPr/>
        </p:nvGrpSpPr>
        <p:grpSpPr>
          <a:xfrm>
            <a:off x="6110717" y="2579087"/>
            <a:ext cx="292770" cy="637674"/>
            <a:chOff x="1074820" y="1507958"/>
            <a:chExt cx="292770" cy="637674"/>
          </a:xfrm>
        </p:grpSpPr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AE6683E5-928D-AB96-A3C8-DEC33C618891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1" y="1507958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CE4609D8-A94B-A3DB-2632-7D450EB3848B}"/>
                </a:ext>
              </a:extLst>
            </p:cNvPr>
            <p:cNvCxnSpPr>
              <a:cxnSpLocks/>
            </p:cNvCxnSpPr>
            <p:nvPr/>
          </p:nvCxnSpPr>
          <p:spPr>
            <a:xfrm>
              <a:off x="1367590" y="1720516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07AFA4A0-2F6D-9E76-0439-2A01EEA85067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1" y="1933074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8A4FC6B1-A44C-6281-D85D-C5C51598C5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4821" y="1936227"/>
              <a:ext cx="292769" cy="2094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142B163E-9323-7661-DF34-CB6D4775748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4821" y="1507958"/>
              <a:ext cx="292769" cy="21571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25C970A2-F2EE-D728-1CB9-78DB718BD9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4821" y="1829948"/>
              <a:ext cx="140545" cy="10312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527F439A-417F-3E0B-45D2-E46978701714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0" y="1716505"/>
              <a:ext cx="140545" cy="10713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214633A4-1B5E-0733-F51C-E4102BBAD162}"/>
              </a:ext>
            </a:extLst>
          </p:cNvPr>
          <p:cNvCxnSpPr/>
          <p:nvPr/>
        </p:nvCxnSpPr>
        <p:spPr>
          <a:xfrm>
            <a:off x="5932909" y="3110482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12A3FC5E-0887-17BA-3438-BBB91A074EC2}"/>
              </a:ext>
            </a:extLst>
          </p:cNvPr>
          <p:cNvCxnSpPr>
            <a:cxnSpLocks/>
          </p:cNvCxnSpPr>
          <p:nvPr/>
        </p:nvCxnSpPr>
        <p:spPr>
          <a:xfrm flipV="1">
            <a:off x="4258959" y="2685366"/>
            <a:ext cx="1851758" cy="166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CF1E05C7-0258-A1DB-5D4E-EA66C6CAA296}"/>
              </a:ext>
            </a:extLst>
          </p:cNvPr>
          <p:cNvGrpSpPr/>
          <p:nvPr/>
        </p:nvGrpSpPr>
        <p:grpSpPr>
          <a:xfrm>
            <a:off x="8385327" y="3269097"/>
            <a:ext cx="292770" cy="637674"/>
            <a:chOff x="1074820" y="1507958"/>
            <a:chExt cx="292770" cy="637674"/>
          </a:xfrm>
        </p:grpSpPr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9B1C3327-A611-2BA8-B007-9186CF3A0E42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1" y="1507958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874B16B-1236-9BD1-3E90-062756FAD0B0}"/>
                </a:ext>
              </a:extLst>
            </p:cNvPr>
            <p:cNvCxnSpPr>
              <a:cxnSpLocks/>
            </p:cNvCxnSpPr>
            <p:nvPr/>
          </p:nvCxnSpPr>
          <p:spPr>
            <a:xfrm>
              <a:off x="1367590" y="1720516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C545D7D5-18F9-460B-16FB-45A5E5B3036A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1" y="1933074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18D96393-1B92-25C8-CCC7-A10F33059DC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4821" y="1936227"/>
              <a:ext cx="292769" cy="2094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753456A5-2F22-6878-6368-381F766CB36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4821" y="1507958"/>
              <a:ext cx="292769" cy="21571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0460A47E-6551-87B8-D148-22BB0E7B22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4821" y="1829948"/>
              <a:ext cx="140545" cy="10312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5A016AB0-C9E3-96DB-019B-5F43AB8DD8B9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0" y="1716505"/>
              <a:ext cx="140545" cy="10713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FD895F0D-4BF5-DC7B-F7F3-413542C80AFB}"/>
              </a:ext>
            </a:extLst>
          </p:cNvPr>
          <p:cNvCxnSpPr>
            <a:cxnSpLocks/>
          </p:cNvCxnSpPr>
          <p:nvPr/>
        </p:nvCxnSpPr>
        <p:spPr>
          <a:xfrm>
            <a:off x="8211392" y="3800492"/>
            <a:ext cx="17393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Arrow Connector 184">
            <a:extLst>
              <a:ext uri="{FF2B5EF4-FFF2-40B4-BE49-F238E27FC236}">
                <a16:creationId xmlns:a16="http://schemas.microsoft.com/office/drawing/2014/main" id="{8A322888-ED2A-D52F-5D81-55A9F50D831D}"/>
              </a:ext>
            </a:extLst>
          </p:cNvPr>
          <p:cNvCxnSpPr/>
          <p:nvPr/>
        </p:nvCxnSpPr>
        <p:spPr>
          <a:xfrm>
            <a:off x="8207519" y="3375376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64A453BE-6D86-FC77-F0DF-48F06E318EFA}"/>
              </a:ext>
            </a:extLst>
          </p:cNvPr>
          <p:cNvGrpSpPr/>
          <p:nvPr/>
        </p:nvGrpSpPr>
        <p:grpSpPr>
          <a:xfrm>
            <a:off x="5687559" y="2837199"/>
            <a:ext cx="234557" cy="529824"/>
            <a:chOff x="6175096" y="3854324"/>
            <a:chExt cx="144932" cy="375881"/>
          </a:xfrm>
        </p:grpSpPr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674FCEC5-7FFF-CD2B-A09D-CBC92E12F25F}"/>
                </a:ext>
              </a:extLst>
            </p:cNvPr>
            <p:cNvCxnSpPr>
              <a:cxnSpLocks/>
            </p:cNvCxnSpPr>
            <p:nvPr/>
          </p:nvCxnSpPr>
          <p:spPr>
            <a:xfrm>
              <a:off x="6180266" y="3861114"/>
              <a:ext cx="0" cy="36909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F5B7B22C-663B-5298-D166-FAF560E4BB75}"/>
                </a:ext>
              </a:extLst>
            </p:cNvPr>
            <p:cNvCxnSpPr>
              <a:cxnSpLocks/>
            </p:cNvCxnSpPr>
            <p:nvPr/>
          </p:nvCxnSpPr>
          <p:spPr>
            <a:xfrm>
              <a:off x="6320028" y="3936909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6BADDFCE-8A0A-44E6-3F10-0D51A57F6C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75096" y="4152620"/>
              <a:ext cx="144932" cy="77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id="{948E2AC4-F542-64B0-39E2-25FBBBED0C9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75096" y="3854324"/>
              <a:ext cx="144932" cy="8573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6" name="Straight Arrow Connector 215">
            <a:extLst>
              <a:ext uri="{FF2B5EF4-FFF2-40B4-BE49-F238E27FC236}">
                <a16:creationId xmlns:a16="http://schemas.microsoft.com/office/drawing/2014/main" id="{973E0397-2938-3E11-F4FA-2B7B6C3675A8}"/>
              </a:ext>
            </a:extLst>
          </p:cNvPr>
          <p:cNvCxnSpPr>
            <a:cxnSpLocks/>
          </p:cNvCxnSpPr>
          <p:nvPr/>
        </p:nvCxnSpPr>
        <p:spPr>
          <a:xfrm flipV="1">
            <a:off x="4850346" y="3244816"/>
            <a:ext cx="842333" cy="67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D782F3A7-BB22-97E7-61AB-4A4C01CDB198}"/>
              </a:ext>
            </a:extLst>
          </p:cNvPr>
          <p:cNvCxnSpPr/>
          <p:nvPr/>
        </p:nvCxnSpPr>
        <p:spPr>
          <a:xfrm>
            <a:off x="4855248" y="3251607"/>
            <a:ext cx="0" cy="9785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Connector 222">
            <a:extLst>
              <a:ext uri="{FF2B5EF4-FFF2-40B4-BE49-F238E27FC236}">
                <a16:creationId xmlns:a16="http://schemas.microsoft.com/office/drawing/2014/main" id="{320A29EB-ABD9-7A97-166B-5F32289CDE2A}"/>
              </a:ext>
            </a:extLst>
          </p:cNvPr>
          <p:cNvCxnSpPr/>
          <p:nvPr/>
        </p:nvCxnSpPr>
        <p:spPr>
          <a:xfrm flipH="1">
            <a:off x="4672538" y="4227176"/>
            <a:ext cx="18271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Arrow Connector 226">
            <a:extLst>
              <a:ext uri="{FF2B5EF4-FFF2-40B4-BE49-F238E27FC236}">
                <a16:creationId xmlns:a16="http://schemas.microsoft.com/office/drawing/2014/main" id="{8F48198F-3BEE-7A5F-E755-825029E62CA9}"/>
              </a:ext>
            </a:extLst>
          </p:cNvPr>
          <p:cNvCxnSpPr/>
          <p:nvPr/>
        </p:nvCxnSpPr>
        <p:spPr>
          <a:xfrm flipV="1">
            <a:off x="5804838" y="3309402"/>
            <a:ext cx="0" cy="17303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Arrow Connector 228">
            <a:extLst>
              <a:ext uri="{FF2B5EF4-FFF2-40B4-BE49-F238E27FC236}">
                <a16:creationId xmlns:a16="http://schemas.microsoft.com/office/drawing/2014/main" id="{6848B782-ACF8-E9A2-8354-F25270D6A5C1}"/>
              </a:ext>
            </a:extLst>
          </p:cNvPr>
          <p:cNvCxnSpPr/>
          <p:nvPr/>
        </p:nvCxnSpPr>
        <p:spPr>
          <a:xfrm flipV="1">
            <a:off x="6267546" y="3096047"/>
            <a:ext cx="0" cy="3329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0" name="Rectangle 229">
            <a:extLst>
              <a:ext uri="{FF2B5EF4-FFF2-40B4-BE49-F238E27FC236}">
                <a16:creationId xmlns:a16="http://schemas.microsoft.com/office/drawing/2014/main" id="{3AF2B9FF-2C7F-338A-78BA-57A97CD3837D}"/>
              </a:ext>
            </a:extLst>
          </p:cNvPr>
          <p:cNvSpPr/>
          <p:nvPr/>
        </p:nvSpPr>
        <p:spPr>
          <a:xfrm>
            <a:off x="8132652" y="1613063"/>
            <a:ext cx="865785" cy="8218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79148410-A97A-F2FF-1C77-6873D577E23E}"/>
              </a:ext>
            </a:extLst>
          </p:cNvPr>
          <p:cNvSpPr txBox="1"/>
          <p:nvPr/>
        </p:nvSpPr>
        <p:spPr>
          <a:xfrm>
            <a:off x="8114167" y="1590798"/>
            <a:ext cx="9268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Data Memory</a:t>
            </a: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25E57BF1-21EE-8E4A-10F6-78E31B205327}"/>
              </a:ext>
            </a:extLst>
          </p:cNvPr>
          <p:cNvSpPr txBox="1"/>
          <p:nvPr/>
        </p:nvSpPr>
        <p:spPr>
          <a:xfrm>
            <a:off x="8073953" y="1812106"/>
            <a:ext cx="55175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data_in</a:t>
            </a:r>
            <a:endParaRPr lang="en-US" sz="900" dirty="0"/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94F78C3D-D478-DE43-4F03-E7114516D4BA}"/>
              </a:ext>
            </a:extLst>
          </p:cNvPr>
          <p:cNvSpPr txBox="1"/>
          <p:nvPr/>
        </p:nvSpPr>
        <p:spPr>
          <a:xfrm>
            <a:off x="8659919" y="1793810"/>
            <a:ext cx="4138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dout</a:t>
            </a:r>
            <a:endParaRPr lang="en-US" sz="900" dirty="0"/>
          </a:p>
        </p:txBody>
      </p:sp>
      <p:cxnSp>
        <p:nvCxnSpPr>
          <p:cNvPr id="238" name="Straight Arrow Connector 237">
            <a:extLst>
              <a:ext uri="{FF2B5EF4-FFF2-40B4-BE49-F238E27FC236}">
                <a16:creationId xmlns:a16="http://schemas.microsoft.com/office/drawing/2014/main" id="{973B1BAA-D410-B540-5205-2CE3EA9D646F}"/>
              </a:ext>
            </a:extLst>
          </p:cNvPr>
          <p:cNvCxnSpPr>
            <a:cxnSpLocks/>
          </p:cNvCxnSpPr>
          <p:nvPr/>
        </p:nvCxnSpPr>
        <p:spPr>
          <a:xfrm>
            <a:off x="4886953" y="1941884"/>
            <a:ext cx="323973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9" name="TextBox 238">
            <a:extLst>
              <a:ext uri="{FF2B5EF4-FFF2-40B4-BE49-F238E27FC236}">
                <a16:creationId xmlns:a16="http://schemas.microsoft.com/office/drawing/2014/main" id="{9B269FA4-5D6A-5E60-3C24-F06556105623}"/>
              </a:ext>
            </a:extLst>
          </p:cNvPr>
          <p:cNvSpPr txBox="1"/>
          <p:nvPr/>
        </p:nvSpPr>
        <p:spPr>
          <a:xfrm>
            <a:off x="8081009" y="2060991"/>
            <a:ext cx="59182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Address</a:t>
            </a:r>
          </a:p>
        </p:txBody>
      </p:sp>
      <p:cxnSp>
        <p:nvCxnSpPr>
          <p:cNvPr id="240" name="Straight Arrow Connector 239">
            <a:extLst>
              <a:ext uri="{FF2B5EF4-FFF2-40B4-BE49-F238E27FC236}">
                <a16:creationId xmlns:a16="http://schemas.microsoft.com/office/drawing/2014/main" id="{32C8C4D0-BC6B-C139-3FF5-F9792E04E4A1}"/>
              </a:ext>
            </a:extLst>
          </p:cNvPr>
          <p:cNvCxnSpPr>
            <a:cxnSpLocks/>
          </p:cNvCxnSpPr>
          <p:nvPr/>
        </p:nvCxnSpPr>
        <p:spPr>
          <a:xfrm>
            <a:off x="6651741" y="2171619"/>
            <a:ext cx="14749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Straight Arrow Connector 242">
            <a:extLst>
              <a:ext uri="{FF2B5EF4-FFF2-40B4-BE49-F238E27FC236}">
                <a16:creationId xmlns:a16="http://schemas.microsoft.com/office/drawing/2014/main" id="{91165BCE-D4C3-69AB-C161-0AAA710C6CB4}"/>
              </a:ext>
            </a:extLst>
          </p:cNvPr>
          <p:cNvCxnSpPr/>
          <p:nvPr/>
        </p:nvCxnSpPr>
        <p:spPr>
          <a:xfrm flipV="1">
            <a:off x="8373291" y="2434882"/>
            <a:ext cx="0" cy="16767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Straight Arrow Connector 244">
            <a:extLst>
              <a:ext uri="{FF2B5EF4-FFF2-40B4-BE49-F238E27FC236}">
                <a16:creationId xmlns:a16="http://schemas.microsoft.com/office/drawing/2014/main" id="{44285445-3673-F463-34B1-B7F351676027}"/>
              </a:ext>
            </a:extLst>
          </p:cNvPr>
          <p:cNvCxnSpPr>
            <a:cxnSpLocks/>
          </p:cNvCxnSpPr>
          <p:nvPr/>
        </p:nvCxnSpPr>
        <p:spPr>
          <a:xfrm flipV="1">
            <a:off x="8716191" y="2434882"/>
            <a:ext cx="0" cy="4303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47" name="Group 246">
            <a:extLst>
              <a:ext uri="{FF2B5EF4-FFF2-40B4-BE49-F238E27FC236}">
                <a16:creationId xmlns:a16="http://schemas.microsoft.com/office/drawing/2014/main" id="{C53FABC7-DD90-8352-C66A-7DFA23EE2633}"/>
              </a:ext>
            </a:extLst>
          </p:cNvPr>
          <p:cNvGrpSpPr/>
          <p:nvPr/>
        </p:nvGrpSpPr>
        <p:grpSpPr>
          <a:xfrm>
            <a:off x="9307301" y="4163398"/>
            <a:ext cx="234557" cy="870633"/>
            <a:chOff x="6175096" y="3854324"/>
            <a:chExt cx="144932" cy="375881"/>
          </a:xfrm>
        </p:grpSpPr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D64F4C90-ABA8-4DDC-5808-F9A278B4E6FD}"/>
                </a:ext>
              </a:extLst>
            </p:cNvPr>
            <p:cNvCxnSpPr>
              <a:cxnSpLocks/>
            </p:cNvCxnSpPr>
            <p:nvPr/>
          </p:nvCxnSpPr>
          <p:spPr>
            <a:xfrm>
              <a:off x="6180266" y="3861114"/>
              <a:ext cx="0" cy="36909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6FC64163-8C45-5848-AF36-721E2025DF54}"/>
                </a:ext>
              </a:extLst>
            </p:cNvPr>
            <p:cNvCxnSpPr>
              <a:cxnSpLocks/>
            </p:cNvCxnSpPr>
            <p:nvPr/>
          </p:nvCxnSpPr>
          <p:spPr>
            <a:xfrm>
              <a:off x="6320028" y="3936909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3B09081B-A704-2107-897F-12A59ADE39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75096" y="4152620"/>
              <a:ext cx="144932" cy="77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465FB0D5-90F0-B240-13F3-D73E3B74C10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75096" y="3854324"/>
              <a:ext cx="144932" cy="8573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3" name="TextBox 252">
            <a:extLst>
              <a:ext uri="{FF2B5EF4-FFF2-40B4-BE49-F238E27FC236}">
                <a16:creationId xmlns:a16="http://schemas.microsoft.com/office/drawing/2014/main" id="{36155029-AEDE-5375-DD7F-E67A49CF35AF}"/>
              </a:ext>
            </a:extLst>
          </p:cNvPr>
          <p:cNvSpPr txBox="1"/>
          <p:nvPr/>
        </p:nvSpPr>
        <p:spPr>
          <a:xfrm>
            <a:off x="1016808" y="4611234"/>
            <a:ext cx="43633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solidFill>
                  <a:srgbClr val="FF0000"/>
                </a:solidFill>
              </a:rPr>
              <a:t>state</a:t>
            </a:r>
          </a:p>
        </p:txBody>
      </p:sp>
      <p:cxnSp>
        <p:nvCxnSpPr>
          <p:cNvPr id="257" name="Straight Connector 256">
            <a:extLst>
              <a:ext uri="{FF2B5EF4-FFF2-40B4-BE49-F238E27FC236}">
                <a16:creationId xmlns:a16="http://schemas.microsoft.com/office/drawing/2014/main" id="{3C457D5C-9212-E0FE-91EE-284C0BA5FE52}"/>
              </a:ext>
            </a:extLst>
          </p:cNvPr>
          <p:cNvCxnSpPr/>
          <p:nvPr/>
        </p:nvCxnSpPr>
        <p:spPr>
          <a:xfrm flipH="1">
            <a:off x="2286000" y="3251607"/>
            <a:ext cx="35334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8" name="TextBox 257">
            <a:extLst>
              <a:ext uri="{FF2B5EF4-FFF2-40B4-BE49-F238E27FC236}">
                <a16:creationId xmlns:a16="http://schemas.microsoft.com/office/drawing/2014/main" id="{921958C4-4752-F09F-ADEA-BCC0D47C8983}"/>
              </a:ext>
            </a:extLst>
          </p:cNvPr>
          <p:cNvSpPr txBox="1"/>
          <p:nvPr/>
        </p:nvSpPr>
        <p:spPr>
          <a:xfrm>
            <a:off x="3749453" y="4138524"/>
            <a:ext cx="4074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instr</a:t>
            </a:r>
            <a:endParaRPr lang="en-US" sz="900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3AE7D782-2F59-C6D9-A9D7-B38E1A913155}"/>
              </a:ext>
            </a:extLst>
          </p:cNvPr>
          <p:cNvSpPr txBox="1"/>
          <p:nvPr/>
        </p:nvSpPr>
        <p:spPr>
          <a:xfrm>
            <a:off x="8230139" y="2245179"/>
            <a:ext cx="2872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rd</a:t>
            </a:r>
            <a:endParaRPr lang="en-US" sz="900" dirty="0"/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378ECE18-76A6-8223-40C0-E1A4CF744BE9}"/>
              </a:ext>
            </a:extLst>
          </p:cNvPr>
          <p:cNvSpPr txBox="1"/>
          <p:nvPr/>
        </p:nvSpPr>
        <p:spPr>
          <a:xfrm>
            <a:off x="8565545" y="2241709"/>
            <a:ext cx="30649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wr</a:t>
            </a:r>
            <a:endParaRPr lang="en-US" sz="900" dirty="0"/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18102C07-F7E1-1AF1-477B-00B68F177F07}"/>
              </a:ext>
            </a:extLst>
          </p:cNvPr>
          <p:cNvSpPr txBox="1"/>
          <p:nvPr/>
        </p:nvSpPr>
        <p:spPr>
          <a:xfrm>
            <a:off x="7795398" y="3262227"/>
            <a:ext cx="47481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dout1</a:t>
            </a: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00A05C49-A5A2-CC74-BAEB-00CF47323BC9}"/>
              </a:ext>
            </a:extLst>
          </p:cNvPr>
          <p:cNvSpPr txBox="1"/>
          <p:nvPr/>
        </p:nvSpPr>
        <p:spPr>
          <a:xfrm>
            <a:off x="7776328" y="3693360"/>
            <a:ext cx="47481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dout2</a:t>
            </a:r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B178740B-BE6B-31B0-B4FD-0ED1D3EABF36}"/>
              </a:ext>
            </a:extLst>
          </p:cNvPr>
          <p:cNvSpPr txBox="1"/>
          <p:nvPr/>
        </p:nvSpPr>
        <p:spPr>
          <a:xfrm>
            <a:off x="8430583" y="3473909"/>
            <a:ext cx="33054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“-”</a:t>
            </a:r>
          </a:p>
        </p:txBody>
      </p:sp>
      <p:cxnSp>
        <p:nvCxnSpPr>
          <p:cNvPr id="269" name="Straight Arrow Connector 268">
            <a:extLst>
              <a:ext uri="{FF2B5EF4-FFF2-40B4-BE49-F238E27FC236}">
                <a16:creationId xmlns:a16="http://schemas.microsoft.com/office/drawing/2014/main" id="{87860765-22E8-2DBF-0155-43937E1810EB}"/>
              </a:ext>
            </a:extLst>
          </p:cNvPr>
          <p:cNvCxnSpPr>
            <a:cxnSpLocks/>
          </p:cNvCxnSpPr>
          <p:nvPr/>
        </p:nvCxnSpPr>
        <p:spPr>
          <a:xfrm flipV="1">
            <a:off x="9204837" y="4520967"/>
            <a:ext cx="100338" cy="24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0" name="TextBox 269">
            <a:extLst>
              <a:ext uri="{FF2B5EF4-FFF2-40B4-BE49-F238E27FC236}">
                <a16:creationId xmlns:a16="http://schemas.microsoft.com/office/drawing/2014/main" id="{E335D321-53C8-872A-430E-7732E67F0A79}"/>
              </a:ext>
            </a:extLst>
          </p:cNvPr>
          <p:cNvSpPr txBox="1"/>
          <p:nvPr/>
        </p:nvSpPr>
        <p:spPr>
          <a:xfrm>
            <a:off x="8882744" y="4402632"/>
            <a:ext cx="4138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NPC</a:t>
            </a:r>
          </a:p>
        </p:txBody>
      </p:sp>
      <p:cxnSp>
        <p:nvCxnSpPr>
          <p:cNvPr id="272" name="Straight Arrow Connector 271">
            <a:extLst>
              <a:ext uri="{FF2B5EF4-FFF2-40B4-BE49-F238E27FC236}">
                <a16:creationId xmlns:a16="http://schemas.microsoft.com/office/drawing/2014/main" id="{E65CDBEF-0F4B-94ED-0527-0710DF016776}"/>
              </a:ext>
            </a:extLst>
          </p:cNvPr>
          <p:cNvCxnSpPr>
            <a:cxnSpLocks/>
          </p:cNvCxnSpPr>
          <p:nvPr/>
        </p:nvCxnSpPr>
        <p:spPr>
          <a:xfrm flipV="1">
            <a:off x="9215290" y="4321626"/>
            <a:ext cx="100338" cy="24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3" name="TextBox 272">
            <a:extLst>
              <a:ext uri="{FF2B5EF4-FFF2-40B4-BE49-F238E27FC236}">
                <a16:creationId xmlns:a16="http://schemas.microsoft.com/office/drawing/2014/main" id="{53C6712A-701A-7D00-06ED-4806B8BE36CF}"/>
              </a:ext>
            </a:extLst>
          </p:cNvPr>
          <p:cNvSpPr txBox="1"/>
          <p:nvPr/>
        </p:nvSpPr>
        <p:spPr>
          <a:xfrm>
            <a:off x="8952137" y="4215214"/>
            <a:ext cx="33214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PC</a:t>
            </a:r>
          </a:p>
        </p:txBody>
      </p:sp>
      <p:cxnSp>
        <p:nvCxnSpPr>
          <p:cNvPr id="275" name="Straight Arrow Connector 274">
            <a:extLst>
              <a:ext uri="{FF2B5EF4-FFF2-40B4-BE49-F238E27FC236}">
                <a16:creationId xmlns:a16="http://schemas.microsoft.com/office/drawing/2014/main" id="{FF5E826E-C5DA-266A-3DEA-9D97594449EE}"/>
              </a:ext>
            </a:extLst>
          </p:cNvPr>
          <p:cNvCxnSpPr>
            <a:cxnSpLocks/>
          </p:cNvCxnSpPr>
          <p:nvPr/>
        </p:nvCxnSpPr>
        <p:spPr>
          <a:xfrm>
            <a:off x="9506818" y="3801533"/>
            <a:ext cx="0" cy="52909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Straight Arrow Connector 275">
            <a:extLst>
              <a:ext uri="{FF2B5EF4-FFF2-40B4-BE49-F238E27FC236}">
                <a16:creationId xmlns:a16="http://schemas.microsoft.com/office/drawing/2014/main" id="{370ACF3C-5A72-31AC-3830-8B43C336935F}"/>
              </a:ext>
            </a:extLst>
          </p:cNvPr>
          <p:cNvCxnSpPr>
            <a:cxnSpLocks/>
          </p:cNvCxnSpPr>
          <p:nvPr/>
        </p:nvCxnSpPr>
        <p:spPr>
          <a:xfrm>
            <a:off x="9389588" y="3591169"/>
            <a:ext cx="0" cy="65021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Straight Connector 279">
            <a:extLst>
              <a:ext uri="{FF2B5EF4-FFF2-40B4-BE49-F238E27FC236}">
                <a16:creationId xmlns:a16="http://schemas.microsoft.com/office/drawing/2014/main" id="{BF12A351-142A-23D7-36BD-9308B9D720AA}"/>
              </a:ext>
            </a:extLst>
          </p:cNvPr>
          <p:cNvCxnSpPr>
            <a:cxnSpLocks/>
          </p:cNvCxnSpPr>
          <p:nvPr/>
        </p:nvCxnSpPr>
        <p:spPr>
          <a:xfrm>
            <a:off x="8690708" y="3591169"/>
            <a:ext cx="69556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B760AF97-E733-241D-903A-11456E3E2363}"/>
              </a:ext>
            </a:extLst>
          </p:cNvPr>
          <p:cNvCxnSpPr/>
          <p:nvPr/>
        </p:nvCxnSpPr>
        <p:spPr>
          <a:xfrm flipH="1">
            <a:off x="211807" y="6023113"/>
            <a:ext cx="945896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Connector 287">
            <a:extLst>
              <a:ext uri="{FF2B5EF4-FFF2-40B4-BE49-F238E27FC236}">
                <a16:creationId xmlns:a16="http://schemas.microsoft.com/office/drawing/2014/main" id="{FBC20363-C806-EF5C-EF5B-FA8F14D0B2F9}"/>
              </a:ext>
            </a:extLst>
          </p:cNvPr>
          <p:cNvCxnSpPr/>
          <p:nvPr/>
        </p:nvCxnSpPr>
        <p:spPr>
          <a:xfrm flipV="1">
            <a:off x="211807" y="2717971"/>
            <a:ext cx="0" cy="329520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Connector 289">
            <a:extLst>
              <a:ext uri="{FF2B5EF4-FFF2-40B4-BE49-F238E27FC236}">
                <a16:creationId xmlns:a16="http://schemas.microsoft.com/office/drawing/2014/main" id="{1876BEE7-FDFC-0D31-7B67-CAA4ECA61CC2}"/>
              </a:ext>
            </a:extLst>
          </p:cNvPr>
          <p:cNvCxnSpPr>
            <a:cxnSpLocks/>
          </p:cNvCxnSpPr>
          <p:nvPr/>
        </p:nvCxnSpPr>
        <p:spPr>
          <a:xfrm>
            <a:off x="9542834" y="4611234"/>
            <a:ext cx="13618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Straight Connector 291">
            <a:extLst>
              <a:ext uri="{FF2B5EF4-FFF2-40B4-BE49-F238E27FC236}">
                <a16:creationId xmlns:a16="http://schemas.microsoft.com/office/drawing/2014/main" id="{F1B7D252-CFD6-2A20-A0B7-01CB66AF15B1}"/>
              </a:ext>
            </a:extLst>
          </p:cNvPr>
          <p:cNvCxnSpPr>
            <a:cxnSpLocks/>
          </p:cNvCxnSpPr>
          <p:nvPr/>
        </p:nvCxnSpPr>
        <p:spPr>
          <a:xfrm>
            <a:off x="9679021" y="4611234"/>
            <a:ext cx="0" cy="14101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Straight Connector 296">
            <a:extLst>
              <a:ext uri="{FF2B5EF4-FFF2-40B4-BE49-F238E27FC236}">
                <a16:creationId xmlns:a16="http://schemas.microsoft.com/office/drawing/2014/main" id="{A0F94C90-2CFA-6FB0-6CDA-6336E014070E}"/>
              </a:ext>
            </a:extLst>
          </p:cNvPr>
          <p:cNvCxnSpPr/>
          <p:nvPr/>
        </p:nvCxnSpPr>
        <p:spPr>
          <a:xfrm flipV="1">
            <a:off x="4886953" y="1919827"/>
            <a:ext cx="0" cy="10520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Straight Connector 298">
            <a:extLst>
              <a:ext uri="{FF2B5EF4-FFF2-40B4-BE49-F238E27FC236}">
                <a16:creationId xmlns:a16="http://schemas.microsoft.com/office/drawing/2014/main" id="{767B8A25-A48B-7850-EE9E-21374996DACF}"/>
              </a:ext>
            </a:extLst>
          </p:cNvPr>
          <p:cNvCxnSpPr>
            <a:cxnSpLocks/>
          </p:cNvCxnSpPr>
          <p:nvPr/>
        </p:nvCxnSpPr>
        <p:spPr>
          <a:xfrm>
            <a:off x="6392320" y="2899983"/>
            <a:ext cx="25942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Straight Connector 302">
            <a:extLst>
              <a:ext uri="{FF2B5EF4-FFF2-40B4-BE49-F238E27FC236}">
                <a16:creationId xmlns:a16="http://schemas.microsoft.com/office/drawing/2014/main" id="{CFAE5DC6-8CF9-2673-71C9-AFA4E7997F1B}"/>
              </a:ext>
            </a:extLst>
          </p:cNvPr>
          <p:cNvCxnSpPr>
            <a:cxnSpLocks/>
          </p:cNvCxnSpPr>
          <p:nvPr/>
        </p:nvCxnSpPr>
        <p:spPr>
          <a:xfrm flipV="1">
            <a:off x="6651741" y="2162573"/>
            <a:ext cx="0" cy="809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Straight Arrow Connector 303">
            <a:extLst>
              <a:ext uri="{FF2B5EF4-FFF2-40B4-BE49-F238E27FC236}">
                <a16:creationId xmlns:a16="http://schemas.microsoft.com/office/drawing/2014/main" id="{2EC15423-B005-0183-7A9F-B576E62BCAAB}"/>
              </a:ext>
            </a:extLst>
          </p:cNvPr>
          <p:cNvCxnSpPr>
            <a:cxnSpLocks/>
          </p:cNvCxnSpPr>
          <p:nvPr/>
        </p:nvCxnSpPr>
        <p:spPr>
          <a:xfrm>
            <a:off x="6651741" y="2971893"/>
            <a:ext cx="40693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Straight Arrow Connector 304">
            <a:extLst>
              <a:ext uri="{FF2B5EF4-FFF2-40B4-BE49-F238E27FC236}">
                <a16:creationId xmlns:a16="http://schemas.microsoft.com/office/drawing/2014/main" id="{217BFE6B-83C0-118F-3EA4-EE097B7E7653}"/>
              </a:ext>
            </a:extLst>
          </p:cNvPr>
          <p:cNvCxnSpPr>
            <a:cxnSpLocks/>
          </p:cNvCxnSpPr>
          <p:nvPr/>
        </p:nvCxnSpPr>
        <p:spPr>
          <a:xfrm>
            <a:off x="10346754" y="3130172"/>
            <a:ext cx="37941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6" name="Group 305">
            <a:extLst>
              <a:ext uri="{FF2B5EF4-FFF2-40B4-BE49-F238E27FC236}">
                <a16:creationId xmlns:a16="http://schemas.microsoft.com/office/drawing/2014/main" id="{3014E321-5714-0DA0-BD84-AEA9AAE788C3}"/>
              </a:ext>
            </a:extLst>
          </p:cNvPr>
          <p:cNvGrpSpPr/>
          <p:nvPr/>
        </p:nvGrpSpPr>
        <p:grpSpPr>
          <a:xfrm>
            <a:off x="10716325" y="2398070"/>
            <a:ext cx="234557" cy="870633"/>
            <a:chOff x="6175096" y="3854324"/>
            <a:chExt cx="144932" cy="375881"/>
          </a:xfrm>
        </p:grpSpPr>
        <p:cxnSp>
          <p:nvCxnSpPr>
            <p:cNvPr id="307" name="Straight Connector 306">
              <a:extLst>
                <a:ext uri="{FF2B5EF4-FFF2-40B4-BE49-F238E27FC236}">
                  <a16:creationId xmlns:a16="http://schemas.microsoft.com/office/drawing/2014/main" id="{CC6483C4-28AE-F10B-774F-31BBB4098B87}"/>
                </a:ext>
              </a:extLst>
            </p:cNvPr>
            <p:cNvCxnSpPr>
              <a:cxnSpLocks/>
            </p:cNvCxnSpPr>
            <p:nvPr/>
          </p:nvCxnSpPr>
          <p:spPr>
            <a:xfrm>
              <a:off x="6180266" y="3861114"/>
              <a:ext cx="0" cy="36909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>
              <a:extLst>
                <a:ext uri="{FF2B5EF4-FFF2-40B4-BE49-F238E27FC236}">
                  <a16:creationId xmlns:a16="http://schemas.microsoft.com/office/drawing/2014/main" id="{C51292B0-B5C4-AACF-9093-36C8D152D461}"/>
                </a:ext>
              </a:extLst>
            </p:cNvPr>
            <p:cNvCxnSpPr>
              <a:cxnSpLocks/>
            </p:cNvCxnSpPr>
            <p:nvPr/>
          </p:nvCxnSpPr>
          <p:spPr>
            <a:xfrm>
              <a:off x="6320028" y="3936909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Connector 308">
              <a:extLst>
                <a:ext uri="{FF2B5EF4-FFF2-40B4-BE49-F238E27FC236}">
                  <a16:creationId xmlns:a16="http://schemas.microsoft.com/office/drawing/2014/main" id="{E6CB2562-95CA-9D1A-979B-D7EFA56D843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75096" y="4152620"/>
              <a:ext cx="144932" cy="77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>
              <a:extLst>
                <a:ext uri="{FF2B5EF4-FFF2-40B4-BE49-F238E27FC236}">
                  <a16:creationId xmlns:a16="http://schemas.microsoft.com/office/drawing/2014/main" id="{F88B1EEE-37B0-409C-F5C6-42593C03E53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75096" y="3854324"/>
              <a:ext cx="144932" cy="8573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11" name="Straight Arrow Connector 310">
            <a:extLst>
              <a:ext uri="{FF2B5EF4-FFF2-40B4-BE49-F238E27FC236}">
                <a16:creationId xmlns:a16="http://schemas.microsoft.com/office/drawing/2014/main" id="{07D9C989-9107-8E5B-7046-08BC10C20273}"/>
              </a:ext>
            </a:extLst>
          </p:cNvPr>
          <p:cNvCxnSpPr>
            <a:cxnSpLocks/>
          </p:cNvCxnSpPr>
          <p:nvPr/>
        </p:nvCxnSpPr>
        <p:spPr>
          <a:xfrm>
            <a:off x="9195002" y="2744225"/>
            <a:ext cx="1519197" cy="114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Straight Arrow Connector 312">
            <a:extLst>
              <a:ext uri="{FF2B5EF4-FFF2-40B4-BE49-F238E27FC236}">
                <a16:creationId xmlns:a16="http://schemas.microsoft.com/office/drawing/2014/main" id="{12A8EFA3-E029-7A54-9279-672AB9B9FD22}"/>
              </a:ext>
            </a:extLst>
          </p:cNvPr>
          <p:cNvCxnSpPr>
            <a:cxnSpLocks/>
          </p:cNvCxnSpPr>
          <p:nvPr/>
        </p:nvCxnSpPr>
        <p:spPr>
          <a:xfrm flipV="1">
            <a:off x="10624314" y="2556298"/>
            <a:ext cx="100338" cy="24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4" name="TextBox 313">
            <a:extLst>
              <a:ext uri="{FF2B5EF4-FFF2-40B4-BE49-F238E27FC236}">
                <a16:creationId xmlns:a16="http://schemas.microsoft.com/office/drawing/2014/main" id="{94EC9EEB-C174-2FF6-451C-065B8E648DDA}"/>
              </a:ext>
            </a:extLst>
          </p:cNvPr>
          <p:cNvSpPr txBox="1"/>
          <p:nvPr/>
        </p:nvSpPr>
        <p:spPr>
          <a:xfrm>
            <a:off x="9917222" y="2437937"/>
            <a:ext cx="77777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900" dirty="0"/>
              <a:t>”10000000”</a:t>
            </a:r>
          </a:p>
        </p:txBody>
      </p:sp>
      <p:cxnSp>
        <p:nvCxnSpPr>
          <p:cNvPr id="315" name="Straight Arrow Connector 314">
            <a:extLst>
              <a:ext uri="{FF2B5EF4-FFF2-40B4-BE49-F238E27FC236}">
                <a16:creationId xmlns:a16="http://schemas.microsoft.com/office/drawing/2014/main" id="{CC2E6CF6-7F9B-DF2E-8401-A11C6FFE7D1D}"/>
              </a:ext>
            </a:extLst>
          </p:cNvPr>
          <p:cNvCxnSpPr>
            <a:cxnSpLocks/>
          </p:cNvCxnSpPr>
          <p:nvPr/>
        </p:nvCxnSpPr>
        <p:spPr>
          <a:xfrm flipV="1">
            <a:off x="10852467" y="3154000"/>
            <a:ext cx="0" cy="89311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C669DA14-8A4A-8AE5-A36A-3E399FDEE2B1}"/>
              </a:ext>
            </a:extLst>
          </p:cNvPr>
          <p:cNvCxnSpPr>
            <a:cxnSpLocks/>
          </p:cNvCxnSpPr>
          <p:nvPr/>
        </p:nvCxnSpPr>
        <p:spPr>
          <a:xfrm>
            <a:off x="10951858" y="2845906"/>
            <a:ext cx="13618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Straight Connector 321">
            <a:extLst>
              <a:ext uri="{FF2B5EF4-FFF2-40B4-BE49-F238E27FC236}">
                <a16:creationId xmlns:a16="http://schemas.microsoft.com/office/drawing/2014/main" id="{F580A49F-8130-DF36-2C61-65CEF9F171E8}"/>
              </a:ext>
            </a:extLst>
          </p:cNvPr>
          <p:cNvCxnSpPr>
            <a:cxnSpLocks/>
          </p:cNvCxnSpPr>
          <p:nvPr/>
        </p:nvCxnSpPr>
        <p:spPr>
          <a:xfrm flipV="1">
            <a:off x="9202288" y="1919827"/>
            <a:ext cx="0" cy="8243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Straight Connector 325">
            <a:extLst>
              <a:ext uri="{FF2B5EF4-FFF2-40B4-BE49-F238E27FC236}">
                <a16:creationId xmlns:a16="http://schemas.microsoft.com/office/drawing/2014/main" id="{0237BD76-677C-61E9-5FF6-4634556047E6}"/>
              </a:ext>
            </a:extLst>
          </p:cNvPr>
          <p:cNvCxnSpPr>
            <a:cxnSpLocks/>
          </p:cNvCxnSpPr>
          <p:nvPr/>
        </p:nvCxnSpPr>
        <p:spPr>
          <a:xfrm flipH="1">
            <a:off x="9014468" y="1909226"/>
            <a:ext cx="19525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Straight Connector 330">
            <a:extLst>
              <a:ext uri="{FF2B5EF4-FFF2-40B4-BE49-F238E27FC236}">
                <a16:creationId xmlns:a16="http://schemas.microsoft.com/office/drawing/2014/main" id="{FB2ED79D-5D1E-998C-0587-601F1B3D6394}"/>
              </a:ext>
            </a:extLst>
          </p:cNvPr>
          <p:cNvCxnSpPr>
            <a:cxnSpLocks/>
          </p:cNvCxnSpPr>
          <p:nvPr/>
        </p:nvCxnSpPr>
        <p:spPr>
          <a:xfrm>
            <a:off x="11084668" y="1313234"/>
            <a:ext cx="0" cy="21692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Straight Connector 332">
            <a:extLst>
              <a:ext uri="{FF2B5EF4-FFF2-40B4-BE49-F238E27FC236}">
                <a16:creationId xmlns:a16="http://schemas.microsoft.com/office/drawing/2014/main" id="{A809ED9C-1989-3F7A-A27F-82708627EF06}"/>
              </a:ext>
            </a:extLst>
          </p:cNvPr>
          <p:cNvCxnSpPr/>
          <p:nvPr/>
        </p:nvCxnSpPr>
        <p:spPr>
          <a:xfrm flipH="1">
            <a:off x="10341685" y="3482439"/>
            <a:ext cx="72839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Straight Connector 334">
            <a:extLst>
              <a:ext uri="{FF2B5EF4-FFF2-40B4-BE49-F238E27FC236}">
                <a16:creationId xmlns:a16="http://schemas.microsoft.com/office/drawing/2014/main" id="{0DF5C10B-70F5-AFDE-6F85-1BA18738B121}"/>
              </a:ext>
            </a:extLst>
          </p:cNvPr>
          <p:cNvCxnSpPr/>
          <p:nvPr/>
        </p:nvCxnSpPr>
        <p:spPr>
          <a:xfrm flipV="1">
            <a:off x="10341685" y="3142034"/>
            <a:ext cx="0" cy="3404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Straight Connector 337">
            <a:extLst>
              <a:ext uri="{FF2B5EF4-FFF2-40B4-BE49-F238E27FC236}">
                <a16:creationId xmlns:a16="http://schemas.microsoft.com/office/drawing/2014/main" id="{10BF8DC2-0A04-BAF9-3B3C-69E04DB1B680}"/>
              </a:ext>
            </a:extLst>
          </p:cNvPr>
          <p:cNvCxnSpPr/>
          <p:nvPr/>
        </p:nvCxnSpPr>
        <p:spPr>
          <a:xfrm flipH="1">
            <a:off x="3047939" y="1316334"/>
            <a:ext cx="802534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Straight Connector 340">
            <a:extLst>
              <a:ext uri="{FF2B5EF4-FFF2-40B4-BE49-F238E27FC236}">
                <a16:creationId xmlns:a16="http://schemas.microsoft.com/office/drawing/2014/main" id="{46BF1B11-30E4-C250-7482-8150CD3EBE33}"/>
              </a:ext>
            </a:extLst>
          </p:cNvPr>
          <p:cNvCxnSpPr/>
          <p:nvPr/>
        </p:nvCxnSpPr>
        <p:spPr>
          <a:xfrm flipV="1">
            <a:off x="3072930" y="1316334"/>
            <a:ext cx="0" cy="18776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Straight Arrow Connector 341">
            <a:extLst>
              <a:ext uri="{FF2B5EF4-FFF2-40B4-BE49-F238E27FC236}">
                <a16:creationId xmlns:a16="http://schemas.microsoft.com/office/drawing/2014/main" id="{C76199D9-440A-9194-BCF0-9A2E6EDE070C}"/>
              </a:ext>
            </a:extLst>
          </p:cNvPr>
          <p:cNvCxnSpPr/>
          <p:nvPr/>
        </p:nvCxnSpPr>
        <p:spPr>
          <a:xfrm>
            <a:off x="2156808" y="1909226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3" name="TextBox 342">
            <a:extLst>
              <a:ext uri="{FF2B5EF4-FFF2-40B4-BE49-F238E27FC236}">
                <a16:creationId xmlns:a16="http://schemas.microsoft.com/office/drawing/2014/main" id="{8D054836-2157-3BAC-A7D8-5291EF62197A}"/>
              </a:ext>
            </a:extLst>
          </p:cNvPr>
          <p:cNvSpPr txBox="1"/>
          <p:nvPr/>
        </p:nvSpPr>
        <p:spPr>
          <a:xfrm>
            <a:off x="6065686" y="2417449"/>
            <a:ext cx="4106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ALU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E076D1-624A-91F1-C2EB-5334C4C179BD}"/>
              </a:ext>
            </a:extLst>
          </p:cNvPr>
          <p:cNvSpPr txBox="1"/>
          <p:nvPr/>
        </p:nvSpPr>
        <p:spPr>
          <a:xfrm>
            <a:off x="9584380" y="3685674"/>
            <a:ext cx="43633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solidFill>
                  <a:srgbClr val="FF0000"/>
                </a:solidFill>
              </a:rPr>
              <a:t>state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C0106CD-BCC5-5515-8E64-D2341CB1320D}"/>
              </a:ext>
            </a:extLst>
          </p:cNvPr>
          <p:cNvSpPr txBox="1"/>
          <p:nvPr/>
        </p:nvSpPr>
        <p:spPr>
          <a:xfrm>
            <a:off x="8687894" y="3367023"/>
            <a:ext cx="67999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>
                <a:solidFill>
                  <a:srgbClr val="FF0000"/>
                </a:solidFill>
              </a:rPr>
              <a:t>alu_result</a:t>
            </a:r>
            <a:endParaRPr lang="en-US" sz="900" dirty="0">
              <a:solidFill>
                <a:srgbClr val="FF0000"/>
              </a:solidFill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F1F530C-9DCF-5A7D-D30B-707878F3550A}"/>
              </a:ext>
            </a:extLst>
          </p:cNvPr>
          <p:cNvCxnSpPr>
            <a:cxnSpLocks/>
          </p:cNvCxnSpPr>
          <p:nvPr/>
        </p:nvCxnSpPr>
        <p:spPr>
          <a:xfrm>
            <a:off x="3566640" y="5203184"/>
            <a:ext cx="240113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EE35FC4-53B9-2FF5-4610-3DF132F5F8D8}"/>
              </a:ext>
            </a:extLst>
          </p:cNvPr>
          <p:cNvSpPr txBox="1"/>
          <p:nvPr/>
        </p:nvSpPr>
        <p:spPr>
          <a:xfrm>
            <a:off x="3734800" y="4348814"/>
            <a:ext cx="71846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>
                <a:solidFill>
                  <a:srgbClr val="FF0000"/>
                </a:solidFill>
              </a:rPr>
              <a:t>mem_read</a:t>
            </a:r>
            <a:endParaRPr lang="en-US" sz="900" dirty="0">
              <a:solidFill>
                <a:srgbClr val="FF000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8BD35B7-0723-3F2D-5165-88EA8CBFA398}"/>
              </a:ext>
            </a:extLst>
          </p:cNvPr>
          <p:cNvSpPr txBox="1"/>
          <p:nvPr/>
        </p:nvSpPr>
        <p:spPr>
          <a:xfrm>
            <a:off x="3749363" y="4474598"/>
            <a:ext cx="74090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>
                <a:solidFill>
                  <a:srgbClr val="FF0000"/>
                </a:solidFill>
              </a:rPr>
              <a:t>mem_write</a:t>
            </a:r>
            <a:endParaRPr lang="en-US" sz="900" dirty="0">
              <a:solidFill>
                <a:srgbClr val="FF0000"/>
              </a:solidFill>
            </a:endParaRP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7247B166-4106-5DC8-71E2-BA7999EB77F8}"/>
              </a:ext>
            </a:extLst>
          </p:cNvPr>
          <p:cNvSpPr txBox="1"/>
          <p:nvPr/>
        </p:nvSpPr>
        <p:spPr>
          <a:xfrm>
            <a:off x="3755993" y="4589657"/>
            <a:ext cx="54854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>
                <a:solidFill>
                  <a:srgbClr val="FF0000"/>
                </a:solidFill>
              </a:rPr>
              <a:t>alu_src</a:t>
            </a:r>
            <a:endParaRPr lang="en-US" sz="900" dirty="0">
              <a:solidFill>
                <a:srgbClr val="FF0000"/>
              </a:solidFill>
            </a:endParaRP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D17B7223-994A-BF49-4D9F-7ABE560199FD}"/>
              </a:ext>
            </a:extLst>
          </p:cNvPr>
          <p:cNvSpPr txBox="1"/>
          <p:nvPr/>
        </p:nvSpPr>
        <p:spPr>
          <a:xfrm>
            <a:off x="3753575" y="4711209"/>
            <a:ext cx="53732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solidFill>
                  <a:srgbClr val="FF0000"/>
                </a:solidFill>
              </a:rPr>
              <a:t>branch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6D82ACFB-F52E-7550-79BD-9ED8066F74EA}"/>
              </a:ext>
            </a:extLst>
          </p:cNvPr>
          <p:cNvSpPr txBox="1"/>
          <p:nvPr/>
        </p:nvSpPr>
        <p:spPr>
          <a:xfrm>
            <a:off x="3752355" y="4845880"/>
            <a:ext cx="43794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solidFill>
                  <a:srgbClr val="FF0000"/>
                </a:solidFill>
              </a:rPr>
              <a:t>jump</a:t>
            </a: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EEAFD317-93B1-C6E4-E1FA-97F3D6619D4C}"/>
              </a:ext>
            </a:extLst>
          </p:cNvPr>
          <p:cNvSpPr txBox="1"/>
          <p:nvPr/>
        </p:nvSpPr>
        <p:spPr>
          <a:xfrm>
            <a:off x="3750760" y="4968188"/>
            <a:ext cx="68480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>
                <a:solidFill>
                  <a:srgbClr val="FF0000"/>
                </a:solidFill>
              </a:rPr>
              <a:t>load_addr</a:t>
            </a:r>
            <a:endParaRPr lang="en-US" sz="900" dirty="0">
              <a:solidFill>
                <a:srgbClr val="FF0000"/>
              </a:solidFill>
            </a:endParaRP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9394C715-1C43-D51D-2DDC-0F1D87F24A53}"/>
              </a:ext>
            </a:extLst>
          </p:cNvPr>
          <p:cNvSpPr txBox="1"/>
          <p:nvPr/>
        </p:nvSpPr>
        <p:spPr>
          <a:xfrm>
            <a:off x="3750353" y="5089071"/>
            <a:ext cx="63991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>
                <a:solidFill>
                  <a:srgbClr val="FF0000"/>
                </a:solidFill>
              </a:rPr>
              <a:t>reg_write</a:t>
            </a:r>
            <a:endParaRPr lang="en-US" sz="900" dirty="0">
              <a:solidFill>
                <a:srgbClr val="FF0000"/>
              </a:solidFill>
            </a:endParaRPr>
          </a:p>
        </p:txBody>
      </p: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5D094692-BE93-1DAC-E4FF-FC3777BF74C2}"/>
              </a:ext>
            </a:extLst>
          </p:cNvPr>
          <p:cNvCxnSpPr>
            <a:cxnSpLocks/>
          </p:cNvCxnSpPr>
          <p:nvPr/>
        </p:nvCxnSpPr>
        <p:spPr>
          <a:xfrm>
            <a:off x="3219011" y="3387564"/>
            <a:ext cx="2047" cy="16530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4" name="TextBox 243">
            <a:extLst>
              <a:ext uri="{FF2B5EF4-FFF2-40B4-BE49-F238E27FC236}">
                <a16:creationId xmlns:a16="http://schemas.microsoft.com/office/drawing/2014/main" id="{F294CEF6-CC56-973A-6385-08F8A45E38CB}"/>
              </a:ext>
            </a:extLst>
          </p:cNvPr>
          <p:cNvSpPr txBox="1"/>
          <p:nvPr/>
        </p:nvSpPr>
        <p:spPr>
          <a:xfrm>
            <a:off x="2923305" y="3505807"/>
            <a:ext cx="63991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>
                <a:solidFill>
                  <a:srgbClr val="FF0000"/>
                </a:solidFill>
              </a:rPr>
              <a:t>reg_write</a:t>
            </a:r>
            <a:endParaRPr lang="en-US" sz="900" dirty="0">
              <a:solidFill>
                <a:srgbClr val="FF0000"/>
              </a:solidFill>
            </a:endParaRP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72905361-5316-460F-D8FC-F705FDF90646}"/>
              </a:ext>
            </a:extLst>
          </p:cNvPr>
          <p:cNvSpPr txBox="1"/>
          <p:nvPr/>
        </p:nvSpPr>
        <p:spPr>
          <a:xfrm>
            <a:off x="2676618" y="3270519"/>
            <a:ext cx="43633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solidFill>
                  <a:srgbClr val="FF0000"/>
                </a:solidFill>
              </a:rPr>
              <a:t>state</a:t>
            </a: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88F40F72-18D5-5002-5AD0-13171C5D004B}"/>
              </a:ext>
            </a:extLst>
          </p:cNvPr>
          <p:cNvSpPr txBox="1"/>
          <p:nvPr/>
        </p:nvSpPr>
        <p:spPr>
          <a:xfrm>
            <a:off x="3247338" y="5250885"/>
            <a:ext cx="52129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>
                <a:solidFill>
                  <a:srgbClr val="FF0000"/>
                </a:solidFill>
              </a:rPr>
              <a:t>alu_op</a:t>
            </a:r>
            <a:endParaRPr lang="en-US" sz="900" dirty="0">
              <a:solidFill>
                <a:srgbClr val="FF0000"/>
              </a:solidFill>
            </a:endParaRP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A8D5493A-092F-0893-4989-D35CECB6DB67}"/>
              </a:ext>
            </a:extLst>
          </p:cNvPr>
          <p:cNvSpPr txBox="1"/>
          <p:nvPr/>
        </p:nvSpPr>
        <p:spPr>
          <a:xfrm>
            <a:off x="5530564" y="3429000"/>
            <a:ext cx="54854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>
                <a:solidFill>
                  <a:srgbClr val="FF0000"/>
                </a:solidFill>
              </a:rPr>
              <a:t>alu_src</a:t>
            </a:r>
            <a:endParaRPr lang="en-US" sz="900" dirty="0">
              <a:solidFill>
                <a:srgbClr val="FF0000"/>
              </a:solidFill>
            </a:endParaRPr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CD2EFC47-F982-0C19-6E30-D1024378A6E0}"/>
              </a:ext>
            </a:extLst>
          </p:cNvPr>
          <p:cNvSpPr txBox="1"/>
          <p:nvPr/>
        </p:nvSpPr>
        <p:spPr>
          <a:xfrm>
            <a:off x="5984633" y="3367023"/>
            <a:ext cx="52129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>
                <a:solidFill>
                  <a:srgbClr val="FF0000"/>
                </a:solidFill>
              </a:rPr>
              <a:t>alu_op</a:t>
            </a:r>
            <a:endParaRPr lang="en-US" sz="900" dirty="0">
              <a:solidFill>
                <a:srgbClr val="FF000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090903B-1B22-51E1-026D-2277A8A541C1}"/>
              </a:ext>
            </a:extLst>
          </p:cNvPr>
          <p:cNvSpPr txBox="1"/>
          <p:nvPr/>
        </p:nvSpPr>
        <p:spPr>
          <a:xfrm>
            <a:off x="7917414" y="2540481"/>
            <a:ext cx="71846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>
                <a:solidFill>
                  <a:srgbClr val="FF0000"/>
                </a:solidFill>
              </a:rPr>
              <a:t>mem_read</a:t>
            </a:r>
            <a:endParaRPr lang="en-US" sz="900" dirty="0">
              <a:solidFill>
                <a:srgbClr val="FF0000"/>
              </a:solidFill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9F9357D-3E57-C790-540D-183FA1E5A444}"/>
              </a:ext>
            </a:extLst>
          </p:cNvPr>
          <p:cNvCxnSpPr>
            <a:cxnSpLocks/>
          </p:cNvCxnSpPr>
          <p:nvPr/>
        </p:nvCxnSpPr>
        <p:spPr>
          <a:xfrm>
            <a:off x="8716501" y="2702044"/>
            <a:ext cx="12726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633BC502-0FB6-830F-A8F7-0DDBA8C1983B}"/>
              </a:ext>
            </a:extLst>
          </p:cNvPr>
          <p:cNvCxnSpPr>
            <a:cxnSpLocks/>
          </p:cNvCxnSpPr>
          <p:nvPr/>
        </p:nvCxnSpPr>
        <p:spPr>
          <a:xfrm>
            <a:off x="8707709" y="2865215"/>
            <a:ext cx="12726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49935CC7-07AC-8C00-CE4E-9299D836874B}"/>
              </a:ext>
            </a:extLst>
          </p:cNvPr>
          <p:cNvSpPr txBox="1"/>
          <p:nvPr/>
        </p:nvSpPr>
        <p:spPr>
          <a:xfrm>
            <a:off x="8780132" y="2741061"/>
            <a:ext cx="74090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>
                <a:solidFill>
                  <a:srgbClr val="FF0000"/>
                </a:solidFill>
              </a:rPr>
              <a:t>mem_write</a:t>
            </a:r>
            <a:endParaRPr lang="en-US" sz="900" dirty="0">
              <a:solidFill>
                <a:srgbClr val="FF0000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FF30B2F-233D-53DE-BE39-BD8B18651379}"/>
              </a:ext>
            </a:extLst>
          </p:cNvPr>
          <p:cNvSpPr txBox="1"/>
          <p:nvPr/>
        </p:nvSpPr>
        <p:spPr>
          <a:xfrm>
            <a:off x="8787245" y="2586628"/>
            <a:ext cx="43633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solidFill>
                  <a:srgbClr val="FF0000"/>
                </a:solidFill>
              </a:rPr>
              <a:t>state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A233B2C1-5DA0-E61E-5DAC-44DC37271334}"/>
              </a:ext>
            </a:extLst>
          </p:cNvPr>
          <p:cNvCxnSpPr>
            <a:cxnSpLocks/>
          </p:cNvCxnSpPr>
          <p:nvPr/>
        </p:nvCxnSpPr>
        <p:spPr>
          <a:xfrm>
            <a:off x="10864679" y="3601867"/>
            <a:ext cx="12726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B7C4E7E0-612A-CD13-D0AC-E0F91AA8D127}"/>
              </a:ext>
            </a:extLst>
          </p:cNvPr>
          <p:cNvCxnSpPr>
            <a:cxnSpLocks/>
          </p:cNvCxnSpPr>
          <p:nvPr/>
        </p:nvCxnSpPr>
        <p:spPr>
          <a:xfrm>
            <a:off x="10860703" y="3748966"/>
            <a:ext cx="12726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2860A699-A13A-837B-D03B-E7B43018B423}"/>
              </a:ext>
            </a:extLst>
          </p:cNvPr>
          <p:cNvCxnSpPr>
            <a:cxnSpLocks/>
          </p:cNvCxnSpPr>
          <p:nvPr/>
        </p:nvCxnSpPr>
        <p:spPr>
          <a:xfrm>
            <a:off x="10864679" y="3881828"/>
            <a:ext cx="12726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3" name="TextBox 262">
            <a:extLst>
              <a:ext uri="{FF2B5EF4-FFF2-40B4-BE49-F238E27FC236}">
                <a16:creationId xmlns:a16="http://schemas.microsoft.com/office/drawing/2014/main" id="{F4E504A4-F7AA-19F4-57FF-4F5247003966}"/>
              </a:ext>
            </a:extLst>
          </p:cNvPr>
          <p:cNvSpPr txBox="1"/>
          <p:nvPr/>
        </p:nvSpPr>
        <p:spPr>
          <a:xfrm>
            <a:off x="10964312" y="3473909"/>
            <a:ext cx="68480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>
                <a:solidFill>
                  <a:srgbClr val="FF0000"/>
                </a:solidFill>
              </a:rPr>
              <a:t>load_addr</a:t>
            </a:r>
            <a:endParaRPr lang="en-US" sz="900" dirty="0">
              <a:solidFill>
                <a:srgbClr val="FF0000"/>
              </a:solidFill>
            </a:endParaRPr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DAAA4D50-437E-30DF-1867-5B1E5337431F}"/>
              </a:ext>
            </a:extLst>
          </p:cNvPr>
          <p:cNvSpPr txBox="1"/>
          <p:nvPr/>
        </p:nvSpPr>
        <p:spPr>
          <a:xfrm>
            <a:off x="10969389" y="3623659"/>
            <a:ext cx="71846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>
                <a:solidFill>
                  <a:srgbClr val="FF0000"/>
                </a:solidFill>
              </a:rPr>
              <a:t>mem_read</a:t>
            </a:r>
            <a:endParaRPr lang="en-US" sz="900" dirty="0">
              <a:solidFill>
                <a:srgbClr val="FF0000"/>
              </a:solidFill>
            </a:endParaRPr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312B6EFE-B07C-540D-A67C-776CAD109336}"/>
              </a:ext>
            </a:extLst>
          </p:cNvPr>
          <p:cNvSpPr txBox="1"/>
          <p:nvPr/>
        </p:nvSpPr>
        <p:spPr>
          <a:xfrm>
            <a:off x="10969389" y="3777088"/>
            <a:ext cx="52129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>
                <a:solidFill>
                  <a:srgbClr val="FF0000"/>
                </a:solidFill>
              </a:rPr>
              <a:t>alu_op</a:t>
            </a:r>
            <a:endParaRPr lang="en-US" sz="900" dirty="0">
              <a:solidFill>
                <a:srgbClr val="FF0000"/>
              </a:solidFill>
            </a:endParaRPr>
          </a:p>
        </p:txBody>
      </p:sp>
      <p:cxnSp>
        <p:nvCxnSpPr>
          <p:cNvPr id="274" name="Straight Connector 273">
            <a:extLst>
              <a:ext uri="{FF2B5EF4-FFF2-40B4-BE49-F238E27FC236}">
                <a16:creationId xmlns:a16="http://schemas.microsoft.com/office/drawing/2014/main" id="{D058F4F9-4CA4-439F-FE9E-13AB2ED93639}"/>
              </a:ext>
            </a:extLst>
          </p:cNvPr>
          <p:cNvCxnSpPr/>
          <p:nvPr/>
        </p:nvCxnSpPr>
        <p:spPr>
          <a:xfrm>
            <a:off x="2572114" y="4659369"/>
            <a:ext cx="99441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>
            <a:extLst>
              <a:ext uri="{FF2B5EF4-FFF2-40B4-BE49-F238E27FC236}">
                <a16:creationId xmlns:a16="http://schemas.microsoft.com/office/drawing/2014/main" id="{1FF3254A-CCCA-30E5-15C6-CD8AA4D93A32}"/>
              </a:ext>
            </a:extLst>
          </p:cNvPr>
          <p:cNvCxnSpPr>
            <a:cxnSpLocks/>
          </p:cNvCxnSpPr>
          <p:nvPr/>
        </p:nvCxnSpPr>
        <p:spPr>
          <a:xfrm>
            <a:off x="3572081" y="4490866"/>
            <a:ext cx="6795" cy="71704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Straight Arrow Connector 282">
            <a:extLst>
              <a:ext uri="{FF2B5EF4-FFF2-40B4-BE49-F238E27FC236}">
                <a16:creationId xmlns:a16="http://schemas.microsoft.com/office/drawing/2014/main" id="{1E1FDC2A-F165-417E-8990-4EB3BAF621B6}"/>
              </a:ext>
            </a:extLst>
          </p:cNvPr>
          <p:cNvCxnSpPr>
            <a:cxnSpLocks/>
          </p:cNvCxnSpPr>
          <p:nvPr/>
        </p:nvCxnSpPr>
        <p:spPr>
          <a:xfrm>
            <a:off x="3566640" y="4507267"/>
            <a:ext cx="22252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Straight Arrow Connector 283">
            <a:extLst>
              <a:ext uri="{FF2B5EF4-FFF2-40B4-BE49-F238E27FC236}">
                <a16:creationId xmlns:a16="http://schemas.microsoft.com/office/drawing/2014/main" id="{55CB471D-F8EF-0BE5-AE0D-1632A06197E4}"/>
              </a:ext>
            </a:extLst>
          </p:cNvPr>
          <p:cNvCxnSpPr>
            <a:cxnSpLocks/>
          </p:cNvCxnSpPr>
          <p:nvPr/>
        </p:nvCxnSpPr>
        <p:spPr>
          <a:xfrm>
            <a:off x="3584232" y="4842066"/>
            <a:ext cx="22252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Straight Arrow Connector 284">
            <a:extLst>
              <a:ext uri="{FF2B5EF4-FFF2-40B4-BE49-F238E27FC236}">
                <a16:creationId xmlns:a16="http://schemas.microsoft.com/office/drawing/2014/main" id="{41854F56-1643-C225-FCB3-BBF4F26D2090}"/>
              </a:ext>
            </a:extLst>
          </p:cNvPr>
          <p:cNvCxnSpPr>
            <a:cxnSpLocks/>
          </p:cNvCxnSpPr>
          <p:nvPr/>
        </p:nvCxnSpPr>
        <p:spPr>
          <a:xfrm>
            <a:off x="3584232" y="4966277"/>
            <a:ext cx="22252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Straight Arrow Connector 286">
            <a:extLst>
              <a:ext uri="{FF2B5EF4-FFF2-40B4-BE49-F238E27FC236}">
                <a16:creationId xmlns:a16="http://schemas.microsoft.com/office/drawing/2014/main" id="{AE448713-CE0E-E8D2-187C-371C7F6AF1C8}"/>
              </a:ext>
            </a:extLst>
          </p:cNvPr>
          <p:cNvCxnSpPr>
            <a:cxnSpLocks/>
          </p:cNvCxnSpPr>
          <p:nvPr/>
        </p:nvCxnSpPr>
        <p:spPr>
          <a:xfrm>
            <a:off x="3584755" y="5093544"/>
            <a:ext cx="22252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1A8B956F-47F4-AA7D-E619-BFD4EF9BFDF1}"/>
              </a:ext>
            </a:extLst>
          </p:cNvPr>
          <p:cNvCxnSpPr>
            <a:cxnSpLocks/>
          </p:cNvCxnSpPr>
          <p:nvPr/>
        </p:nvCxnSpPr>
        <p:spPr>
          <a:xfrm>
            <a:off x="3582642" y="4726650"/>
            <a:ext cx="22411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EBFBB504-689E-FB09-C465-A6D8903EAB1B}"/>
              </a:ext>
            </a:extLst>
          </p:cNvPr>
          <p:cNvCxnSpPr>
            <a:cxnSpLocks/>
          </p:cNvCxnSpPr>
          <p:nvPr/>
        </p:nvCxnSpPr>
        <p:spPr>
          <a:xfrm>
            <a:off x="3582642" y="4611234"/>
            <a:ext cx="22411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4C16C293-FC92-71FA-1C3D-476956B85EF4}"/>
              </a:ext>
            </a:extLst>
          </p:cNvPr>
          <p:cNvCxnSpPr>
            <a:cxnSpLocks/>
          </p:cNvCxnSpPr>
          <p:nvPr/>
        </p:nvCxnSpPr>
        <p:spPr>
          <a:xfrm flipH="1">
            <a:off x="2954806" y="4584374"/>
            <a:ext cx="190540" cy="16255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61E34F98-8014-D00F-25E8-12F4ED0405BA}"/>
              </a:ext>
            </a:extLst>
          </p:cNvPr>
          <p:cNvSpPr txBox="1"/>
          <p:nvPr/>
        </p:nvSpPr>
        <p:spPr>
          <a:xfrm>
            <a:off x="2928699" y="4389395"/>
            <a:ext cx="24558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solidFill>
                  <a:srgbClr val="FF0000"/>
                </a:solidFill>
              </a:rPr>
              <a:t>7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0DF62D31-992B-9692-0637-EEB11D05A2E2}"/>
              </a:ext>
            </a:extLst>
          </p:cNvPr>
          <p:cNvSpPr txBox="1"/>
          <p:nvPr/>
        </p:nvSpPr>
        <p:spPr>
          <a:xfrm>
            <a:off x="10950153" y="48420"/>
            <a:ext cx="1132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C1C Sick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DD2082F-27DA-2BF9-22A0-E9CCCCFB4014}"/>
              </a:ext>
            </a:extLst>
          </p:cNvPr>
          <p:cNvCxnSpPr>
            <a:cxnSpLocks/>
          </p:cNvCxnSpPr>
          <p:nvPr/>
        </p:nvCxnSpPr>
        <p:spPr>
          <a:xfrm>
            <a:off x="9506818" y="3799780"/>
            <a:ext cx="12726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7486644-A515-0D8F-B21F-83AC84FFFC4A}"/>
              </a:ext>
            </a:extLst>
          </p:cNvPr>
          <p:cNvCxnSpPr>
            <a:cxnSpLocks/>
          </p:cNvCxnSpPr>
          <p:nvPr/>
        </p:nvCxnSpPr>
        <p:spPr>
          <a:xfrm>
            <a:off x="9506818" y="3931058"/>
            <a:ext cx="12726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F36F50A-FB00-E855-C1B8-1D98A0F13275}"/>
              </a:ext>
            </a:extLst>
          </p:cNvPr>
          <p:cNvCxnSpPr>
            <a:cxnSpLocks/>
          </p:cNvCxnSpPr>
          <p:nvPr/>
        </p:nvCxnSpPr>
        <p:spPr>
          <a:xfrm>
            <a:off x="9506818" y="4047113"/>
            <a:ext cx="12726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918C6FA-A3BD-FDE2-19B4-40A0C268AF14}"/>
              </a:ext>
            </a:extLst>
          </p:cNvPr>
          <p:cNvSpPr txBox="1"/>
          <p:nvPr/>
        </p:nvSpPr>
        <p:spPr>
          <a:xfrm>
            <a:off x="9594617" y="3816281"/>
            <a:ext cx="53732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solidFill>
                  <a:srgbClr val="FF0000"/>
                </a:solidFill>
              </a:rPr>
              <a:t>branch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3220E8B-F4A3-1D35-95C3-6277215120F7}"/>
              </a:ext>
            </a:extLst>
          </p:cNvPr>
          <p:cNvSpPr txBox="1"/>
          <p:nvPr/>
        </p:nvSpPr>
        <p:spPr>
          <a:xfrm>
            <a:off x="9594617" y="3945511"/>
            <a:ext cx="43794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solidFill>
                  <a:srgbClr val="FF0000"/>
                </a:solidFill>
              </a:rPr>
              <a:t>jump</a:t>
            </a:r>
          </a:p>
        </p:txBody>
      </p:sp>
      <p:cxnSp>
        <p:nvCxnSpPr>
          <p:cNvPr id="233" name="Straight Connector 232">
            <a:extLst>
              <a:ext uri="{FF2B5EF4-FFF2-40B4-BE49-F238E27FC236}">
                <a16:creationId xmlns:a16="http://schemas.microsoft.com/office/drawing/2014/main" id="{E45BEB58-BD78-EFA7-0BA4-B2FC8C8AE64F}"/>
              </a:ext>
            </a:extLst>
          </p:cNvPr>
          <p:cNvCxnSpPr>
            <a:cxnSpLocks/>
          </p:cNvCxnSpPr>
          <p:nvPr/>
        </p:nvCxnSpPr>
        <p:spPr>
          <a:xfrm>
            <a:off x="10848722" y="4047113"/>
            <a:ext cx="15266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1" name="TextBox 240">
            <a:extLst>
              <a:ext uri="{FF2B5EF4-FFF2-40B4-BE49-F238E27FC236}">
                <a16:creationId xmlns:a16="http://schemas.microsoft.com/office/drawing/2014/main" id="{B955AF51-5CE5-2FF8-9426-3B35D47A84DB}"/>
              </a:ext>
            </a:extLst>
          </p:cNvPr>
          <p:cNvSpPr txBox="1"/>
          <p:nvPr/>
        </p:nvSpPr>
        <p:spPr>
          <a:xfrm>
            <a:off x="10969389" y="3922995"/>
            <a:ext cx="43633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solidFill>
                  <a:srgbClr val="FF0000"/>
                </a:solidFill>
              </a:rPr>
              <a:t>state</a:t>
            </a:r>
          </a:p>
        </p:txBody>
      </p:sp>
    </p:spTree>
    <p:extLst>
      <p:ext uri="{BB962C8B-B14F-4D97-AF65-F5344CB8AC3E}">
        <p14:creationId xmlns:p14="http://schemas.microsoft.com/office/powerpoint/2010/main" val="15011709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</TotalTime>
  <Words>164</Words>
  <Application>Microsoft Office PowerPoint</Application>
  <PresentationFormat>Widescreen</PresentationFormat>
  <Paragraphs>92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York, George W CIV USAF USAFA DF/DFEC</dc:creator>
  <cp:lastModifiedBy>Sick, Alexander B C1C USAF USAFA CW/CS06</cp:lastModifiedBy>
  <cp:revision>10</cp:revision>
  <cp:lastPrinted>2025-06-30T18:02:45Z</cp:lastPrinted>
  <dcterms:created xsi:type="dcterms:W3CDTF">2025-06-30T15:01:42Z</dcterms:created>
  <dcterms:modified xsi:type="dcterms:W3CDTF">2026-03-09T05:14:03Z</dcterms:modified>
</cp:coreProperties>
</file>